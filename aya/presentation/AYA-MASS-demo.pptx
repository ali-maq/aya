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90975b506e496e" /><Relationship Type="http://schemas.openxmlformats.org/officeDocument/2006/relationships/extended-properties" Target="/docProps/app.xml" Id="R3b85599f7941408e" /><Relationship Type="http://schemas.openxmlformats.org/officeDocument/2006/relationships/officeDocument" Target="/ppt/presentation.xml" Id="Rd6cae8f41cfd4a41" /></Relationships>
</file>

<file path=ppt/presentation.xml><?xml version="1.0" encoding="utf-8"?>
<p:presentation xmlns:p="http://schemas.openxmlformats.org/presentationml/2006/main">
  <p:sldMasterIdLst>
    <p:sldMasterId xmlns:r="http://schemas.openxmlformats.org/officeDocument/2006/relationships" id="2147483648" r:id="Rc55185c553534593"/>
  </p:sldMasterIdLst>
  <p:notesMasterIdLst>
    <p:notesMasterId xmlns:r="http://schemas.openxmlformats.org/officeDocument/2006/relationships" r:id="Ra73c589179554228"/>
  </p:notesMasterIdLst>
  <p:sldIdLst>
    <p:sldId xmlns:r="http://schemas.openxmlformats.org/officeDocument/2006/relationships" id="256" r:id="Rdbdac9bebf5d4da1"/>
    <p:sldId xmlns:r="http://schemas.openxmlformats.org/officeDocument/2006/relationships" id="257" r:id="R576eaa9c219c414c"/>
    <p:sldId xmlns:r="http://schemas.openxmlformats.org/officeDocument/2006/relationships" id="258" r:id="R25ee9c0312244912"/>
    <p:sldId xmlns:r="http://schemas.openxmlformats.org/officeDocument/2006/relationships" id="259" r:id="R2367781851034a3b"/>
    <p:sldId xmlns:r="http://schemas.openxmlformats.org/officeDocument/2006/relationships" id="260" r:id="R10f2840db219484e"/>
    <p:sldId xmlns:r="http://schemas.openxmlformats.org/officeDocument/2006/relationships" id="261" r:id="R3fa49cfc94184084"/>
    <p:sldId xmlns:r="http://schemas.openxmlformats.org/officeDocument/2006/relationships" id="262" r:id="R028e3f54de1c4154"/>
    <p:sldId xmlns:r="http://schemas.openxmlformats.org/officeDocument/2006/relationships" id="263" r:id="Rc2055e6869d04705"/>
    <p:sldId xmlns:r="http://schemas.openxmlformats.org/officeDocument/2006/relationships" id="264" r:id="Ra21c9ee55c574bc6"/>
    <p:sldId xmlns:r="http://schemas.openxmlformats.org/officeDocument/2006/relationships" id="265" r:id="R25a6420c48bb410b"/>
    <p:sldId xmlns:r="http://schemas.openxmlformats.org/officeDocument/2006/relationships" id="266" r:id="R4bda8d2d58954a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28a25e09a64606" /><Relationship Type="http://schemas.openxmlformats.org/officeDocument/2006/relationships/slideMaster" Target="/ppt/slideMasters/slideMaster1.xml" Id="Rc55185c553534593" /><Relationship Type="http://schemas.openxmlformats.org/officeDocument/2006/relationships/notesMaster" Target="/ppt/notesMasters/notesMaster1.xml" Id="Ra73c589179554228" /><Relationship Type="http://schemas.openxmlformats.org/officeDocument/2006/relationships/presProps" Target="/ppt/presProps.xml" Id="Rbd74d23dc8a24dea" /><Relationship Type="http://schemas.openxmlformats.org/officeDocument/2006/relationships/tableStyles" Target="/ppt/tableStyles.xml" Id="R3fd1e9583667468a" /><Relationship Type="http://schemas.openxmlformats.org/officeDocument/2006/relationships/slide" Target="/ppt/slides/slide1.xml" Id="Rdbdac9bebf5d4da1" /><Relationship Type="http://schemas.openxmlformats.org/officeDocument/2006/relationships/slide" Target="/ppt/slides/slide2.xml" Id="R576eaa9c219c414c" /><Relationship Type="http://schemas.openxmlformats.org/officeDocument/2006/relationships/slide" Target="/ppt/slides/slide3.xml" Id="R25ee9c0312244912" /><Relationship Type="http://schemas.openxmlformats.org/officeDocument/2006/relationships/slide" Target="/ppt/slides/slide4.xml" Id="R2367781851034a3b" /><Relationship Type="http://schemas.openxmlformats.org/officeDocument/2006/relationships/slide" Target="/ppt/slides/slide5.xml" Id="R10f2840db219484e" /><Relationship Type="http://schemas.openxmlformats.org/officeDocument/2006/relationships/slide" Target="/ppt/slides/slide6.xml" Id="R3fa49cfc94184084" /><Relationship Type="http://schemas.openxmlformats.org/officeDocument/2006/relationships/slide" Target="/ppt/slides/slide7.xml" Id="R028e3f54de1c4154" /><Relationship Type="http://schemas.openxmlformats.org/officeDocument/2006/relationships/slide" Target="/ppt/slides/slide8.xml" Id="Rc2055e6869d04705" /><Relationship Type="http://schemas.openxmlformats.org/officeDocument/2006/relationships/slide" Target="/ppt/slides/slide9.xml" Id="Ra21c9ee55c574bc6" /><Relationship Type="http://schemas.openxmlformats.org/officeDocument/2006/relationships/slide" Target="/ppt/slides/slide10.xml" Id="R25a6420c48bb410b" /><Relationship Type="http://schemas.openxmlformats.org/officeDocument/2006/relationships/slide" Target="/ppt/slides/slide11.xml" Id="R4bda8d2d58954a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c721f13372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4beef271444d21" /><Relationship Type="http://schemas.openxmlformats.org/officeDocument/2006/relationships/notesMaster" Target="/ppt/notesMasters/notesMaster1.xml" Id="R277ac7621f4443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3954eef9ce4775" /><Relationship Type="http://schemas.openxmlformats.org/officeDocument/2006/relationships/notesMaster" Target="/ppt/notesMasters/notesMaster1.xml" Id="R5e3bb603091e44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090bbd863744ff" /><Relationship Type="http://schemas.openxmlformats.org/officeDocument/2006/relationships/notesMaster" Target="/ppt/notesMasters/notesMaster1.xml" Id="R6f66fd9f9df945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15f0a72d434730" /><Relationship Type="http://schemas.openxmlformats.org/officeDocument/2006/relationships/notesMaster" Target="/ppt/notesMasters/notesMaster1.xml" Id="R933bac3b343e43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5a65b061a474a" /><Relationship Type="http://schemas.openxmlformats.org/officeDocument/2006/relationships/notesMaster" Target="/ppt/notesMasters/notesMaster1.xml" Id="Rc259a7f4311f43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7e82a6b12948ca" /><Relationship Type="http://schemas.openxmlformats.org/officeDocument/2006/relationships/notesMaster" Target="/ppt/notesMasters/notesMaster1.xml" Id="R77cd552d76ea44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09e2133f4048b4" /><Relationship Type="http://schemas.openxmlformats.org/officeDocument/2006/relationships/notesMaster" Target="/ppt/notesMasters/notesMaster1.xml" Id="Re92001a523e848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c6ad56aed44276" /><Relationship Type="http://schemas.openxmlformats.org/officeDocument/2006/relationships/notesMaster" Target="/ppt/notesMasters/notesMaster1.xml" Id="R2561cbfef8d144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fc547c1dd54af7" /><Relationship Type="http://schemas.openxmlformats.org/officeDocument/2006/relationships/notesMaster" Target="/ppt/notesMasters/notesMaster1.xml" Id="Rd84deb2d9f9f47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0f0ff6e40d4dea" /><Relationship Type="http://schemas.openxmlformats.org/officeDocument/2006/relationships/notesMaster" Target="/ppt/notesMasters/notesMaster1.xml" Id="Rb7bde0e3702545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c288122ac74e7d" /><Relationship Type="http://schemas.openxmlformats.org/officeDocument/2006/relationships/notesMaster" Target="/ppt/notesMasters/notesMaster1.xml" Id="R45655bb0378041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AYA has two peer workflows: reverse engineering and agent improvement. The measured example ports Fireworks SQL tool behavior to Crusoe, then runs Sakana MASS RHI and a separate verified-answer SFT integration test. Sources: https://github.com/Ali-Maq/aya and https://github.com/Ali-Maq/mass/pull/1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workflow. A user supplies a target repository, reference software and a precise behavior contract. Hermes investigates the reference with REA, implements the bounded component inside OpenShell and returns an accepted GitHub change. The working example ports selected Fireworks SQL-tool behavior to Crusoe; this is source/runtime analysis, not binary decompilation. Measured results and limitations are preserved in the evidence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target outcomes, not measured economic or recursive-improvement results. Independent acceptance tests define useful behavior. A cost-aware selection policy should select the least expensive passing workflow using provider prices when available, while reporting total experiment cost. The current prototype records calls, tokens and latency rather than complete dollar cost. Controlled rollout, adoption and willingness-to-pay measurement are future extensions. Actual experiment results are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MASS alternates workflow search with training, then repeats with updated weights. AYA ran one actual upstream RHI proposal-and-comparison round, selected verified final answers and completed a Crusoe supervised training job. This is final-answer distillation, not the paper's full trajectory-training recipe. The new checkpoint still requires deployment and independent evaluation; no recursive tuned-model gain was demonstrated. Exact outcomes are in the evidence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and future economics, not measured revenue or willingness-to-pay results. Two connected loops recover useful software and improve the process used to build it. Specs, tests, traces, decisions and outcomes are durable organization knowledge, portable across models. A future controlled rollout measures adoption and willingness to pay and feeds the next feature objective. Current evaluation did not establish accuracy improvement; serving and evaluating the trained checkpoint remain required. Actual numbers are preserved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actual app at http://localhost:3021/app/factory. Reverse engineering is the default tab; Agent improvement is http://localhost:3021/app/factory?tab=improve. This screenshot records a real run and is not a new execution. Inspect the exact GitHub PR, native tool activity, Langfuse trace, retained workflow and provider training receipt. Sources: https://github.com/Ali-Maq/aya/pull/1; https://github.com/Ali-Maq/crusoe-developer-hub/pull/2; https://github.com/Ali-Maq/mass/pull/1.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target GitHub repository, reviewed behavior contract, and pinned reference define the job. Native Hermes investigates selected unchanged upstream SQL functions through REA process capture, implements the bounded component, and repairs failed independent checks inside OpenShell. This source/runtime example is not binary decompilation and does not reproduce Fireworks RL training. First candidate 117/118; accepted and fresh-seed 118/118. Target tests 54; real Crusoe questions 4/4. Source: https://github.com/Ali-Maq/crusoe-developer-hub/pull/2 and aya/demo/evidence/492e2ca7851347f5.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 Spider development results and measured whole-episode usage. {</a:t>
            </a:r>
          </a:p>
          <a:p xmlns:a="http://schemas.openxmlformats.org/drawingml/2006/main">
            <a:r>
              <a:t>  "status": "awaiting_deployment",</a:t>
            </a:r>
          </a:p>
          <a:p xmlns:a="http://schemas.openxmlformats.org/drawingml/2006/main">
            <a:r>
              <a:t>  "title": "Spider · 18 questions across 9 databases",</a:t>
            </a:r>
          </a:p>
          <a:p xmlns:a="http://schemas.openxmlformats.org/drawingml/2006/main">
            <a:r>
              <a:t>  "source": "https://huggingface.co/datasets/xlangai/spider/resolve/6232cc3fad6d54c62b3ba23a364083a98ff36a17/data/spider.zip",</a:t>
            </a:r>
          </a:p>
          <a:p xmlns:a="http://schemas.openxmlformats.org/drawingml/2006/main">
            <a:r>
              <a:t>  "source_revision": "6232cc3fad6d54c62b3ba23a364083a98ff36a17",</a:t>
            </a:r>
          </a:p>
          <a:p xmlns:a="http://schemas.openxmlformats.org/drawingml/2006/main">
            <a:r>
              <a:t>  "source_sha256": "5ddff97bb1d421282c593e8d30ce0ce107270f4dd4a21d60eba4bf287d5956b1",</a:t>
            </a:r>
          </a:p>
          <a:p xmlns:a="http://schemas.openxmlformats.org/drawingml/2006/main">
            <a:r>
              <a:t>  "license": "CC-BY-SA-4.0",</a:t>
            </a:r>
          </a:p>
          <a:p xmlns:a="http://schemas.openxmlformats.org/drawingml/2006/main">
            <a:r>
              <a:t>  "development_questions": 12,</a:t>
            </a:r>
          </a:p>
          <a:p xmlns:a="http://schemas.openxmlformats.org/drawingml/2006/main">
            <a:r>
              <a:t>  "heldout_questions": 6,</a:t>
            </a:r>
          </a:p>
          <a:p xmlns:a="http://schemas.openxmlformats.org/drawingml/2006/main">
            <a:r>
              <a:t>  "development_databases": 6,</a:t>
            </a:r>
          </a:p>
          <a:p xmlns:a="http://schemas.openxmlformats.org/drawingml/2006/main">
            <a:r>
              <a:t>  "heldout_databases": 3,</a:t>
            </a:r>
          </a:p>
          <a:p xmlns:a="http://schemas.openxmlformats.org/drawingml/2006/main">
            <a:r>
              <a:t>  "results": [</a:t>
            </a:r>
          </a:p>
          <a:p xmlns:a="http://schemas.openxmlformats.org/drawingml/2006/main">
            <a:r>
              <a:t>    {</a:t>
            </a:r>
          </a:p>
          <a:p xmlns:a="http://schemas.openxmlformats.org/drawingml/2006/main">
            <a:r>
              <a:t>      "name": "One-shot baseline",</a:t>
            </a:r>
          </a:p>
          <a:p xmlns:a="http://schemas.openxmlformats.org/drawingml/2006/main">
            <a:r>
              <a:t>      "development": "12 / 12",</a:t>
            </a:r>
          </a:p>
          <a:p xmlns:a="http://schemas.openxmlformats.org/drawingml/2006/main">
            <a:r>
              <a:t>      "heldout": "Not evaluated",</a:t>
            </a:r>
          </a:p>
          <a:p xmlns:a="http://schemas.openxmlformats.org/drawingml/2006/main">
            <a:r>
              <a:t>      "calls": 1,</a:t>
            </a:r>
          </a:p>
          <a:p xmlns:a="http://schemas.openxmlformats.org/drawingml/2006/main">
            <a:r>
              <a:t>      "tokens": 4544,</a:t>
            </a:r>
          </a:p>
          <a:p xmlns:a="http://schemas.openxmlformats.org/drawingml/2006/main">
            <a:r>
              <a:t>      "elapsed_seconds": 13.92</a:t>
            </a:r>
          </a:p>
          <a:p xmlns:a="http://schemas.openxmlformats.org/drawingml/2006/main">
            <a:r>
              <a:t>    },</a:t>
            </a:r>
          </a:p>
          <a:p xmlns:a="http://schemas.openxmlformats.org/drawingml/2006/main">
            <a:r>
              <a:t>    {</a:t>
            </a:r>
          </a:p>
          <a:p xmlns:a="http://schemas.openxmlformats.org/drawingml/2006/main">
            <a:r>
              <a:t>      "name": "Initial Hermes v0",</a:t>
            </a:r>
          </a:p>
          <a:p xmlns:a="http://schemas.openxmlformats.org/drawingml/2006/main">
            <a:r>
              <a:t>      "development": "11 / 12",</a:t>
            </a:r>
          </a:p>
          <a:p xmlns:a="http://schemas.openxmlformats.org/drawingml/2006/main">
            <a:r>
              <a:t>      "heldout": "3 / 6",</a:t>
            </a:r>
          </a:p>
          <a:p xmlns:a="http://schemas.openxmlformats.org/drawingml/2006/main">
            <a:r>
              <a:t>      "calls": 8,</a:t>
            </a:r>
          </a:p>
          <a:p xmlns:a="http://schemas.openxmlformats.org/drawingml/2006/main">
            <a:r>
              <a:t>      "tokens": 48451,</a:t>
            </a:r>
          </a:p>
          <a:p xmlns:a="http://schemas.openxmlformats.org/drawingml/2006/main">
            <a:r>
              <a:t>      "elapsed_seconds": 182.71,</a:t>
            </a:r>
          </a:p>
          <a:p xmlns:a="http://schemas.openxmlformats.org/drawingml/2006/main">
            <a:r>
              <a:t>      "children": 1</a:t>
            </a:r>
          </a:p>
          <a:p xmlns:a="http://schemas.openxmlformats.org/drawingml/2006/main">
            <a:r>
              <a:t>    },</a:t>
            </a:r>
          </a:p>
          <a:p xmlns:a="http://schemas.openxmlformats.org/drawingml/2006/main">
            <a:r>
              <a:t>    {</a:t>
            </a:r>
          </a:p>
          <a:p xmlns:a="http://schemas.openxmlformats.org/drawingml/2006/main">
            <a:r>
              <a:t>      "name": "MASS candidate v1",</a:t>
            </a:r>
          </a:p>
          <a:p xmlns:a="http://schemas.openxmlformats.org/drawingml/2006/main">
            <a:r>
              <a:t>      "development": "11 / 12",</a:t>
            </a:r>
          </a:p>
          <a:p xmlns:a="http://schemas.openxmlformats.org/drawingml/2006/main">
            <a:r>
              <a:t>      "heldout": "Not selected",</a:t>
            </a:r>
          </a:p>
          <a:p xmlns:a="http://schemas.openxmlformats.org/drawingml/2006/main">
            <a:r>
              <a:t>      "calls": 22,</a:t>
            </a:r>
          </a:p>
          <a:p xmlns:a="http://schemas.openxmlformats.org/drawingml/2006/main">
            <a:r>
              <a:t>      "tokens": 68667,</a:t>
            </a:r>
          </a:p>
          <a:p xmlns:a="http://schemas.openxmlformats.org/drawingml/2006/main">
            <a:r>
              <a:t>      "elapsed_seconds": 315.38,</a:t>
            </a:r>
          </a:p>
          <a:p xmlns:a="http://schemas.openxmlformats.org/drawingml/2006/main">
            <a:r>
              <a:t>      "children": 1</a:t>
            </a:r>
          </a:p>
          <a:p xmlns:a="http://schemas.openxmlformats.org/drawingml/2006/main">
            <a:r>
              <a:t>    }</a:t>
            </a:r>
          </a:p>
          <a:p xmlns:a="http://schemas.openxmlformats.org/drawingml/2006/main">
            <a:r>
              <a:t>  ],</a:t>
            </a:r>
          </a:p>
          <a:p xmlns:a="http://schemas.openxmlformats.org/drawingml/2006/main">
            <a:r>
              <a:t>  "status_note": "Evaluation complete; public SQL SFT succeeded. Dedicated serving and tuned-model evaluation are required.",</a:t>
            </a:r>
          </a:p>
          <a:p xmlns:a="http://schemas.openxmlformats.org/drawingml/2006/main">
            <a:r>
              <a:t>  "limitation": "Single-database execution agreement on a fixed 18-question subset; not the official Spider test-suite metric or a leaderboard result. Public questions may occur in model training. Native trace comments claimed familiarity with Spider answers; possible memorization must be considered.",</a:t>
            </a:r>
          </a:p>
          <a:p xmlns:a="http://schemas.openxmlformats.org/drawingml/2006/main">
            <a:r>
              <a:t>  "run_id": "db5f5b51190a4b97",</a:t>
            </a:r>
          </a:p>
          <a:p xmlns:a="http://schemas.openxmlformats.org/drawingml/2006/main">
            <a:r>
              <a:t>  "result_note": "Baseline 12/12; both native workflows 11/12. The v0/v1 tie retains v0. No MASS accuracy gain is established.",</a:t>
            </a:r>
          </a:p>
          <a:p xmlns:a="http://schemas.openxmlformats.org/drawingml/2006/main">
            <a:r>
              <a:t>  "mass_revision": "2818e476eafd415d573c27d94b3335391a194605",</a:t>
            </a:r>
          </a:p>
          <a:p xmlns:a="http://schemas.openxmlformats.org/drawingml/2006/main">
            <a:r>
              <a:t>  "contract": "../specs/mass-public-sql.json",</a:t>
            </a:r>
          </a:p>
          <a:p xmlns:a="http://schemas.openxmlformats.org/drawingml/2006/main">
            <a:r>
              <a:t>  "selection_manifest": "../specs/spider-benchmark.json",</a:t>
            </a:r>
          </a:p>
          <a:p xmlns:a="http://schemas.openxmlformats.org/drawingml/2006/main">
            <a:r>
              <a:t>  "executor": "public_db_executor.py",</a:t>
            </a:r>
          </a:p>
          <a:p xmlns:a="http://schemas.openxmlformats.org/drawingml/2006/main">
            <a:r>
              <a:t>  "checks_per_question": 1,</a:t>
            </a:r>
          </a:p>
          <a:p xmlns:a="http://schemas.openxmlformats.org/drawingml/2006/main">
            <a:r>
              <a:t>  "runtime_observation": "The v0 native trace accessed an unrelated prior repository-fixture file from a sibling workspace. No current Spider reference SQL was observed.",</a:t>
            </a:r>
          </a:p>
          <a:p xmlns:a="http://schemas.openxmlformats.org/drawingml/2006/main">
            <a:r>
              <a:t>  "baseline_response_id": "2cf646cdf216408884acba66a90684b6",</a:t>
            </a:r>
          </a:p>
          <a:p xmlns:a="http://schemas.openxmlformats.org/drawingml/2006/main">
            <a:r>
              <a:t>  "selected": "v0",</a:t>
            </a:r>
          </a:p>
          <a:p xmlns:a="http://schemas.openxmlformats.org/drawingml/2006/main">
            <a:r>
              <a:t>  "heldout": {</a:t>
            </a:r>
          </a:p>
          <a:p xmlns:a="http://schemas.openxmlformats.org/drawingml/2006/main">
            <a:r>
              <a:t>    "passed": 3,</a:t>
            </a:r>
          </a:p>
          <a:p xmlns:a="http://schemas.openxmlformats.org/drawingml/2006/main">
            <a:r>
              <a:t>    "total": 6</a:t>
            </a:r>
          </a:p>
          <a:p xmlns:a="http://schemas.openxmlformats.org/drawingml/2006/main">
            <a:r>
              <a:t>  },</a:t>
            </a:r>
          </a:p>
          <a:p xmlns:a="http://schemas.openxmlformats.org/drawingml/2006/main">
            <a:r>
              <a:t>  "heldout_usage": {</a:t>
            </a:r>
          </a:p>
          <a:p xmlns:a="http://schemas.openxmlformats.org/drawingml/2006/main">
            <a:r>
              <a:t>    "calls": 9,</a:t>
            </a:r>
          </a:p>
          <a:p xmlns:a="http://schemas.openxmlformats.org/drawingml/2006/main">
            <a:r>
              <a:t>    "tokens": 35003,</a:t>
            </a:r>
          </a:p>
          <a:p xmlns:a="http://schemas.openxmlformats.org/drawingml/2006/main">
            <a:r>
              <a:t>    "elapsed_seconds": 101.34,</a:t>
            </a:r>
          </a:p>
          <a:p xmlns:a="http://schemas.openxmlformats.org/drawingml/2006/main">
            <a:r>
              <a:t>    "children": 0</a:t>
            </a:r>
          </a:p>
          <a:p xmlns:a="http://schemas.openxmlformats.org/drawingml/2006/main">
            <a:r>
              <a:t>  },</a:t>
            </a:r>
          </a:p>
          <a:p xmlns:a="http://schemas.openxmlformats.org/drawingml/2006/main">
            <a:r>
              <a:t>  "heldout_note": "Retained v0: 3 / 6 held out. Baseline held-out performance was not evaluated.",</a:t>
            </a:r>
          </a:p>
          <a:p xmlns:a="http://schemas.openxmlformats.org/drawingml/2006/main">
            <a:r>
              <a:t>  "training": {</a:t>
            </a:r>
          </a:p>
          <a:p xmlns:a="http://schemas.openxmlformats.org/drawingml/2006/main">
            <a:r>
              <a:t>    "id": "ftjob-3f54c5ea7cee4dbcb1819004d2c1d7a9",</a:t>
            </a:r>
          </a:p>
          <a:p xmlns:a="http://schemas.openxmlformats.org/drawingml/2006/main">
            <a:r>
              <a:t>    "status": "succeeded",</a:t>
            </a:r>
          </a:p>
          <a:p xmlns:a="http://schemas.openxmlformats.org/drawingml/2006/main">
            <a:r>
              <a:t>    "model": "Qwen/Qwen3.5-9B",</a:t>
            </a:r>
          </a:p>
          <a:p xmlns:a="http://schemas.openxmlformats.org/drawingml/2006/main">
            <a:r>
              <a:t>    "fine_tuned_model": "ftmodel-2ac55e69-6a3c-4b2d-a3d1-0fd93bf5455a",</a:t>
            </a:r>
          </a:p>
          <a:p xmlns:a="http://schemas.openxmlformats.org/drawingml/2006/main">
            <a:r>
              <a:t>    "trained_tokens": 26624,</a:t>
            </a:r>
          </a:p>
          <a:p xmlns:a="http://schemas.openxmlformats.org/drawingml/2006/main">
            <a:r>
              <a:t>    "error": null,</a:t>
            </a:r>
          </a:p>
          <a:p xmlns:a="http://schemas.openxmlformats.org/drawingml/2006/main">
            <a:r>
              <a:t>    "updated_at": "2026-10-17T23:27:50.118500+00:00",</a:t>
            </a:r>
          </a:p>
          <a:p xmlns:a="http://schemas.openxmlformats.org/drawingml/2006/main">
            <a:r>
              <a:t>    "url": "https://console.crusoecloud.com/foundry/fine-tuning/jobs/ftjob-3f54c5ea7cee4dbcb1819004d2c1d7a9/overview",</a:t>
            </a:r>
          </a:p>
          <a:p xmlns:a="http://schemas.openxmlformats.org/drawingml/2006/main">
            <a:r>
              <a:t>    "deployment_status": "required",</a:t>
            </a:r>
          </a:p>
          <a:p xmlns:a="http://schemas.openxmlformats.org/drawingml/2006/main">
            <a:r>
              <a:t>    "promotion": "blocked until tuned inference passes independent evaluation"</a:t>
            </a:r>
          </a:p>
          <a:p xmlns:a="http://schemas.openxmlformats.org/drawingml/2006/main">
            <a:r>
              <a:t>  },</a:t>
            </a:r>
          </a:p>
          <a:p xmlns:a="http://schemas.openxmlformats.org/drawingml/2006/main">
            <a:r>
              <a:t>  "training_manifest": {</a:t>
            </a:r>
          </a:p>
          <a:p xmlns:a="http://schemas.openxmlformats.org/drawingml/2006/main">
            <a:r>
              <a:t>    "format": "assistant-only supervised chat",</a:t>
            </a:r>
          </a:p>
          <a:p xmlns:a="http://schemas.openxmlformats.org/drawingml/2006/main">
            <a:r>
              <a:t>    "teacher": "deepseek-ai/DeepSeek-V4-Pro",</a:t>
            </a:r>
          </a:p>
          <a:p xmlns:a="http://schemas.openxmlformats.org/drawingml/2006/main">
            <a:r>
              <a:t>    "student": "Qwen/Qwen3.5-9B",</a:t>
            </a:r>
          </a:p>
          <a:p xmlns:a="http://schemas.openxmlformats.org/drawingml/2006/main">
            <a:r>
              <a:t>    "kind": "distilled final SQL outputs from ranked verified trajectories",</a:t>
            </a:r>
          </a:p>
          <a:p xmlns:a="http://schemas.openxmlformats.org/drawingml/2006/main">
            <a:r>
              <a:t>    "mode": "supervised integration smoke test",</a:t>
            </a:r>
          </a:p>
          <a:p xmlns:a="http://schemas.openxmlformats.org/drawingml/2006/main">
            <a:r>
              <a:t>    "selection_sha256": "82525dd318fdf8b56b526c4cc5381871164b1e71dfbb368b6619d362df8e7470",</a:t>
            </a:r>
          </a:p>
          <a:p xmlns:a="http://schemas.openxmlformats.org/drawingml/2006/main">
            <a:r>
              <a:t>    "selection_rule": "Independent question pass rate, then measured episode API calls, tokens, latency, stable run ID",</a:t>
            </a:r>
          </a:p>
          <a:p xmlns:a="http://schemas.openxmlformats.org/drawingml/2006/main">
            <a:r>
              <a:t>    "source_runs": [</a:t>
            </a:r>
          </a:p>
          <a:p xmlns:a="http://schemas.openxmlformats.org/drawingml/2006/main">
            <a:r>
              <a:t>      "db5f5b51190a4b97-baseline"</a:t>
            </a:r>
          </a:p>
          <a:p xmlns:a="http://schemas.openxmlformats.org/drawingml/2006/main">
            <a:r>
              <a:t>    ],</a:t>
            </a:r>
          </a:p>
          <a:p xmlns:a="http://schemas.openxmlformats.org/drawingml/2006/main">
            <a:r>
              <a:t>    "source_readback": [</a:t>
            </a:r>
          </a:p>
          <a:p xmlns:a="http://schemas.openxmlformats.org/drawingml/2006/main">
            <a:r>
              <a:t>      {</a:t>
            </a:r>
          </a:p>
          <a:p xmlns:a="http://schemas.openxmlformats.org/drawingml/2006/main">
            <a:r>
              <a:t>        "run_id": "db5f5b51190a4b97-baseline",</a:t>
            </a:r>
          </a:p>
          <a:p xmlns:a="http://schemas.openxmlformats.org/drawingml/2006/main">
            <a:r>
              <a:t>        "trace_id": "2b4a2864da8a7660c35556732f6245b0",</a:t>
            </a:r>
          </a:p>
          <a:p xmlns:a="http://schemas.openxmlformats.org/drawingml/2006/main">
            <a:r>
              <a:t>        "trajectory_revision": "a8b32f778a735507c0edd283c69863268a038bd9ac2aab773653aaa9f719a559"</a:t>
            </a:r>
          </a:p>
          <a:p xmlns:a="http://schemas.openxmlformats.org/drawingml/2006/main">
            <a:r>
              <a:t>      }</a:t>
            </a:r>
          </a:p>
          <a:p xmlns:a="http://schemas.openxmlformats.org/drawingml/2006/main">
            <a:r>
              <a:t>    ],</a:t>
            </a:r>
          </a:p>
          <a:p xmlns:a="http://schemas.openxmlformats.org/drawingml/2006/main">
            <a:r>
              <a:t>    "verified_at": "2026-10-17T23:25:45.908183+00:00",</a:t>
            </a:r>
          </a:p>
          <a:p xmlns:a="http://schemas.openxmlformats.org/drawingml/2006/main">
            <a:r>
              <a:t>    "training_rows": 10,</a:t>
            </a:r>
          </a:p>
          <a:p xmlns:a="http://schemas.openxmlformats.org/drawingml/2006/main">
            <a:r>
              <a:t>    "validation_rows": 2,</a:t>
            </a:r>
          </a:p>
          <a:p xmlns:a="http://schemas.openxmlformats.org/drawingml/2006/main">
            <a:r>
              <a:t>    "question_ids": {</a:t>
            </a:r>
          </a:p>
          <a:p xmlns:a="http://schemas.openxmlformats.org/drawingml/2006/main">
            <a:r>
              <a:t>      "training": [</a:t>
            </a:r>
          </a:p>
          <a:p xmlns:a="http://schemas.openxmlformats.org/drawingml/2006/main">
            <a:r>
              <a:t>        "spider-dev-0176",</a:t>
            </a:r>
          </a:p>
          <a:p xmlns:a="http://schemas.openxmlformats.org/drawingml/2006/main">
            <a:r>
              <a:t>        "spider-dev-0177",</a:t>
            </a:r>
          </a:p>
          <a:p xmlns:a="http://schemas.openxmlformats.org/drawingml/2006/main">
            <a:r>
              <a:t>        "spider-dev-0278",</a:t>
            </a:r>
          </a:p>
          <a:p xmlns:a="http://schemas.openxmlformats.org/drawingml/2006/main">
            <a:r>
              <a:t>        "spider-dev-0293",</a:t>
            </a:r>
          </a:p>
          <a:p xmlns:a="http://schemas.openxmlformats.org/drawingml/2006/main">
            <a:r>
              <a:t>        "spider-dev-0426",</a:t>
            </a:r>
          </a:p>
          <a:p xmlns:a="http://schemas.openxmlformats.org/drawingml/2006/main">
            <a:r>
              <a:t>        "spider-dev-0427",</a:t>
            </a:r>
          </a:p>
          <a:p xmlns:a="http://schemas.openxmlformats.org/drawingml/2006/main">
            <a:r>
              <a:t>        "spider-dev-0843",</a:t>
            </a:r>
          </a:p>
          <a:p xmlns:a="http://schemas.openxmlformats.org/drawingml/2006/main">
            <a:r>
              <a:t>        "spider-dev-0856",</a:t>
            </a:r>
          </a:p>
          <a:p xmlns:a="http://schemas.openxmlformats.org/drawingml/2006/main">
            <a:r>
              <a:t>        "spider-dev-0896",</a:t>
            </a:r>
          </a:p>
          <a:p xmlns:a="http://schemas.openxmlformats.org/drawingml/2006/main">
            <a:r>
              <a:t>        "spider-dev-0900"</a:t>
            </a:r>
          </a:p>
          <a:p xmlns:a="http://schemas.openxmlformats.org/drawingml/2006/main">
            <a:r>
              <a:t>      ],</a:t>
            </a:r>
          </a:p>
          <a:p xmlns:a="http://schemas.openxmlformats.org/drawingml/2006/main">
            <a:r>
              <a:t>      "validation": [</a:t>
            </a:r>
          </a:p>
          <a:p xmlns:a="http://schemas.openxmlformats.org/drawingml/2006/main">
            <a:r>
              <a:t>        "spider-dev-0667",</a:t>
            </a:r>
          </a:p>
          <a:p xmlns:a="http://schemas.openxmlformats.org/drawingml/2006/main">
            <a:r>
              <a:t>        "spider-dev-0684"</a:t>
            </a:r>
          </a:p>
          <a:p xmlns:a="http://schemas.openxmlformats.org/drawingml/2006/main">
            <a:r>
              <a:t>      ]</a:t>
            </a:r>
          </a:p>
          <a:p xmlns:a="http://schemas.openxmlformats.org/drawingml/2006/main">
            <a:r>
              <a:t>    },</a:t>
            </a:r>
          </a:p>
          <a:p xmlns:a="http://schemas.openxmlformats.org/drawingml/2006/main">
            <a:r>
              <a:t>    "heldout_rows": 0,</a:t>
            </a:r>
          </a:p>
          <a:p xmlns:a="http://schemas.openxmlformats.org/drawingml/2006/main">
            <a:r>
              <a:t>    "submission_eligible": true,</a:t>
            </a:r>
          </a:p>
          <a:p xmlns:a="http://schemas.openxmlformats.org/drawingml/2006/main">
            <a:r>
              <a:t>    "submission_gate": "At least ten passing training tasks and two preassigned passing validation tasks",</a:t>
            </a:r>
          </a:p>
          <a:p xmlns:a="http://schemas.openxmlformats.org/drawingml/2006/main">
            <a:r>
              <a:t>    "mass_winning_teacher_sources": [],</a:t>
            </a:r>
          </a:p>
          <a:p xmlns:a="http://schemas.openxmlformats.org/drawingml/2006/main">
            <a:r>
              <a:t>    "mass_eligibility": "Includes non-winning sources; final-answer distillation, not a MASS winning-teacher round",</a:t>
            </a:r>
          </a:p>
          <a:p xmlns:a="http://schemas.openxmlformats.org/drawingml/2006/main">
            <a:r>
              <a:t>    "workflow_sha256": "cff98d9905afef42cb94a65581d11a5bef2236c510ec0aacfbe463e779ed0f8d",</a:t>
            </a:r>
          </a:p>
          <a:p xmlns:a="http://schemas.openxmlformats.org/drawingml/2006/main">
            <a:r>
              <a:t>    "files": {</a:t>
            </a:r>
          </a:p>
          <a:p xmlns:a="http://schemas.openxmlformats.org/drawingml/2006/main">
            <a:r>
              <a:t>      "training": "2846135616058556c030e632d1757a883bf09576f4ab1a8efa2b6c45804e00bc",</a:t>
            </a:r>
          </a:p>
          <a:p xmlns:a="http://schemas.openxmlformats.org/drawingml/2006/main">
            <a:r>
              <a:t>      "validation": "099468bdfe2719841785d71aeee64162bfc1f4d83d8c5ffdd592900b54ca4a14"</a:t>
            </a:r>
          </a:p>
          <a:p xmlns:a="http://schemas.openxmlformats.org/drawingml/2006/main">
            <a:r>
              <a:t>    },</a:t>
            </a:r>
          </a:p>
          <a:p xmlns:a="http://schemas.openxmlformats.org/drawingml/2006/main">
            <a:r>
              <a:t>    "limitations": "Small final-answer corpus; no full tool-trajectory training or model-improvement claim"</a:t>
            </a:r>
          </a:p>
          <a:p xmlns:a="http://schemas.openxmlformats.org/drawingml/2006/main">
            <a:r>
              <a:t>  },</a:t>
            </a:r>
          </a:p>
          <a:p xmlns:a="http://schemas.openxmlformats.org/drawingml/2006/main">
            <a:r>
              <a:t>  "selection_note": "All 12 selected answers came from the independently verified bare baseline.\n10 training rows · 2 fixed validation rows · 0 held-out rows.",</a:t>
            </a:r>
          </a:p>
          <a:p xmlns:a="http://schemas.openxmlformats.org/drawingml/2006/main">
            <a:r>
              <a:t>  "training_note": "Crusoe SFT succeeded: 26,624 trained tokens.\nFinal-answer distillation; serving and tuned-quality evaluation remain required.",</a:t>
            </a:r>
          </a:p>
          <a:p xmlns:a="http://schemas.openxmlformats.org/drawingml/2006/main">
            <a:r>
              <a:t>  "rhi": {</a:t>
            </a:r>
          </a:p>
          <a:p xmlns:a="http://schemas.openxmlformats.org/drawingml/2006/main">
            <a:r>
              <a:t>    "calls": 3,</a:t>
            </a:r>
          </a:p>
          <a:p xmlns:a="http://schemas.openxmlformats.org/drawingml/2006/main">
            <a:r>
              <a:t>    "tokens": 40840,</a:t>
            </a:r>
          </a:p>
          <a:p xmlns:a="http://schemas.openxmlformats.org/drawingml/2006/main">
            <a:r>
              <a:t>    "beats_reference": false</a:t>
            </a:r>
          </a:p>
          <a:p xmlns:a="http://schemas.openxmlformats.org/drawingml/2006/main">
            <a:r>
              <a:t>  }</a:t>
            </a:r>
          </a:p>
          <a:p xmlns:a="http://schemas.openxmlformats.org/drawingml/2006/main">
            <a:r>
              <a:t>}. The baseline uses one Crusoe completion. Native v0 and v1 each use one child. The actual upstream MASS RHI proposes and compares workflows; v0/v1 tie so the controller retains v0. The bare reference performed better. This is not a claim of improved model accuracy. Keep this public 12/6 experiment separate from the historical fixture experiment with 36 checks per split. Source: https://github.com/Ali-Maq/mass/pull/1 and the run's sanitized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Spider development selection chose12 verified direct-baseline answers:10training,2fixedvalidation,0heldout. Actual Crusoe job ftjob-3f54c5ea7cee4dbcb1819004d2c1d7a9 succeeded. Student Qwen/Qwen3.5-9B; checkpoint ftmodel-2ac55e69-6a3c-4b2d-a3d1-0fd93bf5455a; trained tokens 26624. 10 training + 2 validation examples, 1 epoch, no heldout training rows. This is assistant-only supervised distillation of verified final SQL outputs, not a MASS winning-teacher training round because no workflow beat the bare reference. Dedicated serving and tuned inference evaluation remain separate gates. Source: https://console.crusoecloud.com/foundry/fine-tuning/jobs/ftjob-3f54c5ea7cee4dbcb1819004d2c1d7a9/overview and aya/.state/mass/db5f5b51190a4b97/training/receipt.json.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model, reviewed contract, evaluator and seeds. Unequal budget and tool access. One task and one baseline sample. No Claude Code or Codex baseline ran. This measures the component contract, not the NL 36-check benchmark. {</a:t>
            </a:r>
          </a:p>
          <a:p xmlns:a="http://schemas.openxmlformats.org/drawingml/2006/main">
            <a:r>
              <a:t>  "experiment": "sql-contract-only-one-shot",</a:t>
            </a:r>
          </a:p>
          <a:p xmlns:a="http://schemas.openxmlformats.org/drawingml/2006/main">
            <a:r>
              <a:t>  "model": "deepseek-ai/DeepSeek-V4-Pro",</a:t>
            </a:r>
          </a:p>
          <a:p xmlns:a="http://schemas.openxmlformats.org/drawingml/2006/main">
            <a:r>
              <a:t>  "contract_sha256": "7c56492fc8333c3a770e2b692ee8df12652266bd6bb768dec1cde2486b2a5ee6",</a:t>
            </a:r>
          </a:p>
          <a:p xmlns:a="http://schemas.openxmlformats.org/drawingml/2006/main">
            <a:r>
              <a:t>  "evaluator": "aya-sql-v1",</a:t>
            </a:r>
          </a:p>
          <a:p xmlns:a="http://schemas.openxmlformats.org/drawingml/2006/main">
            <a:r>
              <a:t>  "evaluator_source_sha256": "5655684c8fbdd5a0ef9cf862978d865ad83aac70d6fd00096cac19c42ebd5c80",</a:t>
            </a:r>
          </a:p>
          <a:p xmlns:a="http://schemas.openxmlformats.org/drawingml/2006/main">
            <a:r>
              <a:t>  "one_shot": {</a:t>
            </a:r>
          </a:p>
          <a:p xmlns:a="http://schemas.openxmlformats.org/drawingml/2006/main">
            <a:r>
              <a:t>    "source_sha256": "ed18579afc33c87b26ef0d5d61305ffb2ed7840ff8d674a2cae8bc18eb556ce9",</a:t>
            </a:r>
          </a:p>
          <a:p xmlns:a="http://schemas.openxmlformats.org/drawingml/2006/main">
            <a:r>
              <a:t>    "response_id": "b192491f60204bc6a85d69190e49abb9",</a:t>
            </a:r>
          </a:p>
          <a:p xmlns:a="http://schemas.openxmlformats.org/drawingml/2006/main">
            <a:r>
              <a:t>    "development": {</a:t>
            </a:r>
          </a:p>
          <a:p xmlns:a="http://schemas.openxmlformats.org/drawingml/2006/main">
            <a:r>
              <a:t>      "passed": 107,</a:t>
            </a:r>
          </a:p>
          <a:p xmlns:a="http://schemas.openxmlformats.org/drawingml/2006/main">
            <a:r>
              <a:t>      "total": 118,</a:t>
            </a:r>
          </a:p>
          <a:p xmlns:a="http://schemas.openxmlformats.org/drawingml/2006/main">
            <a:r>
              <a:t>      "seed": "15388528694062393949"</a:t>
            </a:r>
          </a:p>
          <a:p xmlns:a="http://schemas.openxmlformats.org/drawingml/2006/main">
            <a:r>
              <a:t>    },</a:t>
            </a:r>
          </a:p>
          <a:p xmlns:a="http://schemas.openxmlformats.org/drawingml/2006/main">
            <a:r>
              <a:t>    "fresh_seed": {</a:t>
            </a:r>
          </a:p>
          <a:p xmlns:a="http://schemas.openxmlformats.org/drawingml/2006/main">
            <a:r>
              <a:t>      "passed": 107,</a:t>
            </a:r>
          </a:p>
          <a:p xmlns:a="http://schemas.openxmlformats.org/drawingml/2006/main">
            <a:r>
              <a:t>      "total": 118,</a:t>
            </a:r>
          </a:p>
          <a:p xmlns:a="http://schemas.openxmlformats.org/drawingml/2006/main">
            <a:r>
              <a:t>      "seed": "9633811139305601742"</a:t>
            </a:r>
          </a:p>
          <a:p xmlns:a="http://schemas.openxmlformats.org/drawingml/2006/main">
            <a:r>
              <a:t>    },</a:t>
            </a:r>
          </a:p>
          <a:p xmlns:a="http://schemas.openxmlformats.org/drawingml/2006/main">
            <a:r>
              <a:t>    "model_calls": 1,</a:t>
            </a:r>
          </a:p>
          <a:p xmlns:a="http://schemas.openxmlformats.org/drawingml/2006/main">
            <a:r>
              <a:t>    "usage": {</a:t>
            </a:r>
          </a:p>
          <a:p xmlns:a="http://schemas.openxmlformats.org/drawingml/2006/main">
            <a:r>
              <a:t>      "prompt_tokens": 659,</a:t>
            </a:r>
          </a:p>
          <a:p xmlns:a="http://schemas.openxmlformats.org/drawingml/2006/main">
            <a:r>
              <a:t>      "total_tokens": 2268,</a:t>
            </a:r>
          </a:p>
          <a:p xmlns:a="http://schemas.openxmlformats.org/drawingml/2006/main">
            <a:r>
              <a:t>      "completion_tokens": 1609,</a:t>
            </a:r>
          </a:p>
          <a:p xmlns:a="http://schemas.openxmlformats.org/drawingml/2006/main">
            <a:r>
              <a:t>      "prompt_tokens_details": null,</a:t>
            </a:r>
          </a:p>
          <a:p xmlns:a="http://schemas.openxmlformats.org/drawingml/2006/main">
            <a:r>
              <a:t>      "reasoning_tokens": 0</a:t>
            </a:r>
          </a:p>
          <a:p xmlns:a="http://schemas.openxmlformats.org/drawingml/2006/main">
            <a:r>
              <a:t>    },</a:t>
            </a:r>
          </a:p>
          <a:p xmlns:a="http://schemas.openxmlformats.org/drawingml/2006/main">
            <a:r>
              <a:t>    "inference_seconds": 9.301,</a:t>
            </a:r>
          </a:p>
          <a:p xmlns:a="http://schemas.openxmlformats.org/drawingml/2006/main">
            <a:r>
              <a:t>    "evaluation_seconds": 0.589,</a:t>
            </a:r>
          </a:p>
          <a:p xmlns:a="http://schemas.openxmlformats.org/drawingml/2006/main">
            <a:r>
              <a:t>    "reference_source": false,</a:t>
            </a:r>
          </a:p>
          <a:p xmlns:a="http://schemas.openxmlformats.org/drawingml/2006/main">
            <a:r>
              <a:t>    "tool_use": false,</a:t>
            </a:r>
          </a:p>
          <a:p xmlns:a="http://schemas.openxmlformats.org/drawingml/2006/main">
            <a:r>
              <a:t>    "repair_feedback": false,</a:t>
            </a:r>
          </a:p>
          <a:p xmlns:a="http://schemas.openxmlformats.org/drawingml/2006/main">
            <a:r>
              <a:t>    "source_modified": false</a:t>
            </a:r>
          </a:p>
          <a:p xmlns:a="http://schemas.openxmlformats.org/drawingml/2006/main">
            <a:r>
              <a:t>  },</a:t>
            </a:r>
          </a:p>
          <a:p xmlns:a="http://schemas.openxmlformats.org/drawingml/2006/main">
            <a:r>
              <a:t>  "aya_completed_run": {</a:t>
            </a:r>
          </a:p>
          <a:p xmlns:a="http://schemas.openxmlformats.org/drawingml/2006/main">
            <a:r>
              <a:t>    "run_id": "492e2ca7851347f5",</a:t>
            </a:r>
          </a:p>
          <a:p xmlns:a="http://schemas.openxmlformats.org/drawingml/2006/main">
            <a:r>
              <a:t>    "source_sha256": "c79ae1a51002b2132b511e4fad4be785dd5e60fb54088a9ba90e771b92a897ff",</a:t>
            </a:r>
          </a:p>
          <a:p xmlns:a="http://schemas.openxmlformats.org/drawingml/2006/main">
            <a:r>
              <a:t>    "first_candidate": {</a:t>
            </a:r>
          </a:p>
          <a:p xmlns:a="http://schemas.openxmlformats.org/drawingml/2006/main">
            <a:r>
              <a:t>      "passed": 117,</a:t>
            </a:r>
          </a:p>
          <a:p xmlns:a="http://schemas.openxmlformats.org/drawingml/2006/main">
            <a:r>
              <a:t>      "total": 118</a:t>
            </a:r>
          </a:p>
          <a:p xmlns:a="http://schemas.openxmlformats.org/drawingml/2006/main">
            <a:r>
              <a:t>    },</a:t>
            </a:r>
          </a:p>
          <a:p xmlns:a="http://schemas.openxmlformats.org/drawingml/2006/main">
            <a:r>
              <a:t>    "accepted_development": {</a:t>
            </a:r>
          </a:p>
          <a:p xmlns:a="http://schemas.openxmlformats.org/drawingml/2006/main">
            <a:r>
              <a:t>      "passed": 118,</a:t>
            </a:r>
          </a:p>
          <a:p xmlns:a="http://schemas.openxmlformats.org/drawingml/2006/main">
            <a:r>
              <a:t>      "total": 118,</a:t>
            </a:r>
          </a:p>
          <a:p xmlns:a="http://schemas.openxmlformats.org/drawingml/2006/main">
            <a:r>
              <a:t>      "seed": "15388528694062393949"</a:t>
            </a:r>
          </a:p>
          <a:p xmlns:a="http://schemas.openxmlformats.org/drawingml/2006/main">
            <a:r>
              <a:t>    },</a:t>
            </a:r>
          </a:p>
          <a:p xmlns:a="http://schemas.openxmlformats.org/drawingml/2006/main">
            <a:r>
              <a:t>    "fresh_seed": {</a:t>
            </a:r>
          </a:p>
          <a:p xmlns:a="http://schemas.openxmlformats.org/drawingml/2006/main">
            <a:r>
              <a:t>      "passed": 118,</a:t>
            </a:r>
          </a:p>
          <a:p xmlns:a="http://schemas.openxmlformats.org/drawingml/2006/main">
            <a:r>
              <a:t>      "total": 118,</a:t>
            </a:r>
          </a:p>
          <a:p xmlns:a="http://schemas.openxmlformats.org/drawingml/2006/main">
            <a:r>
              <a:t>      "seed": "9633811139305601742"</a:t>
            </a:r>
          </a:p>
          <a:p xmlns:a="http://schemas.openxmlformats.org/drawingml/2006/main">
            <a:r>
              <a:t>    },</a:t>
            </a:r>
          </a:p>
          <a:p xmlns:a="http://schemas.openxmlformats.org/drawingml/2006/main">
            <a:r>
              <a:t>    "planning_and_native_model_calls": 98,</a:t>
            </a:r>
          </a:p>
          <a:p xmlns:a="http://schemas.openxmlformats.org/drawingml/2006/main">
            <a:r>
              <a:t>    "planning_and_native_usage": {</a:t>
            </a:r>
          </a:p>
          <a:p xmlns:a="http://schemas.openxmlformats.org/drawingml/2006/main">
            <a:r>
              <a:t>      "input_tokens": 138162,</a:t>
            </a:r>
          </a:p>
          <a:p xmlns:a="http://schemas.openxmlformats.org/drawingml/2006/main">
            <a:r>
              <a:t>      "output_tokens": 53392,</a:t>
            </a:r>
          </a:p>
          <a:p xmlns:a="http://schemas.openxmlformats.org/drawingml/2006/main">
            <a:r>
              <a:t>      "total_tokens": 191554</a:t>
            </a:r>
          </a:p>
          <a:p xmlns:a="http://schemas.openxmlformats.org/drawingml/2006/main">
            <a:r>
              <a:t>    },</a:t>
            </a:r>
          </a:p>
          <a:p xmlns:a="http://schemas.openxmlformats.org/drawingml/2006/main">
            <a:r>
              <a:t>    "usage_exclusions": [</a:t>
            </a:r>
          </a:p>
          <a:p xmlns:a="http://schemas.openxmlformats.org/drawingml/2006/main">
            <a:r>
              <a:t>      "Four live verification questions",</a:t>
            </a:r>
          </a:p>
          <a:p xmlns:a="http://schemas.openxmlformats.org/drawingml/2006/main">
            <a:r>
              <a:t>      "Later browser and CLI product calls"</a:t>
            </a:r>
          </a:p>
          <a:p xmlns:a="http://schemas.openxmlformats.org/drawingml/2006/main">
            <a:r>
              <a:t>    ],</a:t>
            </a:r>
          </a:p>
          <a:p xmlns:a="http://schemas.openxmlformats.org/drawingml/2006/main">
            <a:r>
              <a:t>    "reference_source": true,</a:t>
            </a:r>
          </a:p>
          <a:p xmlns:a="http://schemas.openxmlformats.org/drawingml/2006/main">
            <a:r>
              <a:t>    "tool_use": true,</a:t>
            </a:r>
          </a:p>
          <a:p xmlns:a="http://schemas.openxmlformats.org/drawingml/2006/main">
            <a:r>
              <a:t>    "repair_feedback": true,</a:t>
            </a:r>
          </a:p>
          <a:p xmlns:a="http://schemas.openxmlformats.org/drawingml/2006/main">
            <a:r>
              <a:t>    "pull_request": "https://github.com/Ali-Maq/crusoe-developer-hub/pull/2"</a:t>
            </a:r>
          </a:p>
          <a:p xmlns:a="http://schemas.openxmlformats.org/drawingml/2006/main">
            <a:r>
              <a:t>  },</a:t>
            </a:r>
          </a:p>
          <a:p xmlns:a="http://schemas.openxmlformats.org/drawingml/2006/main">
            <a:r>
              <a:t>  "limits": [</a:t>
            </a:r>
          </a:p>
          <a:p xmlns:a="http://schemas.openxmlformats.org/drawingml/2006/main">
            <a:r>
              <a:t>    "One task and one baseline sample, not a benchmark or statistical significance claim.",</a:t>
            </a:r>
          </a:p>
          <a:p xmlns:a="http://schemas.openxmlformats.org/drawingml/2006/main">
            <a:r>
              <a:t>    "Same model, reviewed contract, evaluator and evaluation seeds; unequal inference budget and tool access.",</a:t>
            </a:r>
          </a:p>
          <a:p xmlns:a="http://schemas.openxmlformats.org/drawingml/2006/main">
            <a:r>
              <a:t>    "Does not isolate the effect of REA, reference access, native tools, delegation or repairs separately.",</a:t>
            </a:r>
          </a:p>
          <a:p xmlns:a="http://schemas.openxmlformats.org/drawingml/2006/main">
            <a:r>
              <a:t>    "No Claude Code or Codex baseline ran. Do not attribute this result to those products.",</a:t>
            </a:r>
          </a:p>
          <a:p xmlns:a="http://schemas.openxmlformats.org/drawingml/2006/main">
            <a:r>
              <a:t>    "Fresh-seed evaluation changes generated data; it reuses the contract's error checks.",</a:t>
            </a:r>
          </a:p>
          <a:p xmlns:a="http://schemas.openxmlformats.org/drawingml/2006/main">
            <a:r>
              <a:t>    "Baseline source was never repaired or activated in a product."</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controller retains credentials and current Spider reference SQL. The public benchmark uses public_db_executor.py; the earlier fixture uses the digest-bound accepted repository component. Both execute generated SQL in restricted containers. Native Hermes uses fresh workspaces in one shared OpenShell worker, with no per-job filesystem isolation. The public v0 trace read an unrelated earlier fixture file from a sibling workspace; no current Spider reference SQL was observed. Landlock is unavailable on Docker Desktop. These are execution controls, not a formal security proof. Relevant sources: aya/DEMO.md, aya/aya_factory/sql_eval.py, aya/aya_factory/sql_benchmark.py.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4aa6abf21a44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94dd98e06b45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d83162b2f744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b48400a5f249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83eaccc8ae4c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0459d6578649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B45498-EC32-4BBA-95CC-5A11F5C41A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A0D82B-39AE-45E1-BA58-63634C163F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731DF-844C-41BA-A1DE-C44561644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A16D27-0FE2-46B1-972A-16AE71DF1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7FE06B-5667-4A62-9E3B-52FF835502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A7F8D9-5C71-42C7-9F90-249EC50F79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7F196E-9D39-420E-A244-CF247050FD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E59B87-77E7-4428-B652-F1A3415620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1A6BF1-61F7-4CC1-8F91-B475CCF16F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C820AC-42E8-43D2-8119-8E84593F91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a9364abfa34e0c" /><Relationship Type="http://schemas.openxmlformats.org/officeDocument/2006/relationships/slideLayout" Target="/ppt/slideLayouts/slideLayout1.xml" Id="Re5349a72a51c439d" /><Relationship Type="http://schemas.openxmlformats.org/officeDocument/2006/relationships/slideLayout" Target="/ppt/slideLayouts/slideLayout2.xml" Id="R67528010b09042ba" /><Relationship Type="http://schemas.openxmlformats.org/officeDocument/2006/relationships/slideLayout" Target="/ppt/slideLayouts/slideLayout3.xml" Id="R05f40993e0294dae" /><Relationship Type="http://schemas.openxmlformats.org/officeDocument/2006/relationships/slideLayout" Target="/ppt/slideLayouts/slideLayout4.xml" Id="R52b67c98f7d248f9" /><Relationship Type="http://schemas.openxmlformats.org/officeDocument/2006/relationships/slideLayout" Target="/ppt/slideLayouts/slideLayout5.xml" Id="R39d2468cd98a45b4" /><Relationship Type="http://schemas.openxmlformats.org/officeDocument/2006/relationships/slideLayout" Target="/ppt/slideLayouts/slideLayout6.xml" Id="R1525d97e538b45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349a72a51c439d"/>
    <p:sldLayoutId xmlns:r="http://schemas.openxmlformats.org/officeDocument/2006/relationships" id="2147483650" r:id="R67528010b09042ba"/>
    <p:sldLayoutId xmlns:r="http://schemas.openxmlformats.org/officeDocument/2006/relationships" id="2147483651" r:id="R05f40993e0294dae"/>
    <p:sldLayoutId xmlns:r="http://schemas.openxmlformats.org/officeDocument/2006/relationships" id="2147483652" r:id="R52b67c98f7d248f9"/>
    <p:sldLayoutId xmlns:r="http://schemas.openxmlformats.org/officeDocument/2006/relationships" id="2147483653" r:id="R39d2468cd98a45b4"/>
    <p:sldLayoutId xmlns:r="http://schemas.openxmlformats.org/officeDocument/2006/relationships" id="2147483654" r:id="R1525d97e538b45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9f6f90d7da4de4" /><Relationship Type="http://schemas.openxmlformats.org/officeDocument/2006/relationships/notesSlide" Target="/ppt/notesSlides/notesSlide1.xml" Id="R6055d68c26ad4c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64b3626a0b4153" /><Relationship Type="http://schemas.openxmlformats.org/officeDocument/2006/relationships/notesSlide" Target="/ppt/notesSlides/notesSlide2.xml" Id="R414bb90d30fd4b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88000d939e4eaa" /><Relationship Type="http://schemas.openxmlformats.org/officeDocument/2006/relationships/notesSlide" Target="/ppt/notesSlides/notesSlide3.xml" Id="Rb8417d73a1bc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e9a62793584505" /><Relationship Type="http://schemas.openxmlformats.org/officeDocument/2006/relationships/notesSlide" Target="/ppt/notesSlides/notesSlide4.xml" Id="R51d6bf0cbe9042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36d3a394e0492b" /><Relationship Type="http://schemas.openxmlformats.org/officeDocument/2006/relationships/notesSlide" Target="/ppt/notesSlides/notesSlide5.xml" Id="R46e5eb83f47649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54e0e9198e4535" /><Relationship Type="http://schemas.openxmlformats.org/officeDocument/2006/relationships/image" Target="/ppt/media/image.jpeg" Id="Rac9bd1edefc941d2" /><Relationship Type="http://schemas.openxmlformats.org/officeDocument/2006/relationships/notesSlide" Target="/ppt/notesSlides/notesSlide6.xml" Id="R8d441e29aafc43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24bfd683934f98" /><Relationship Type="http://schemas.openxmlformats.org/officeDocument/2006/relationships/notesSlide" Target="/ppt/notesSlides/notesSlide7.xml" Id="R4b05f1abf44f46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0d33eadb014280" /><Relationship Type="http://schemas.openxmlformats.org/officeDocument/2006/relationships/notesSlide" Target="/ppt/notesSlides/notesSlide8.xml" Id="R223dee720d3645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320fe07c0a4951" /><Relationship Type="http://schemas.openxmlformats.org/officeDocument/2006/relationships/notesSlide" Target="/ppt/notesSlides/notesSlide9.xml" Id="R7d52094d4c9a4b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6f230a92124066" /><Relationship Type="http://schemas.openxmlformats.org/officeDocument/2006/relationships/notesSlide" Target="/ppt/notesSlides/notesSlide10.xml" Id="R9bce511c6da647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bfb6841b1c4354" /><Relationship Type="http://schemas.openxmlformats.org/officeDocument/2006/relationships/notesSlide" Target="/ppt/notesSlides/notesSlide11.xml" Id="R1b33e8aa4280408e" /></Relationships>
</file>

<file path=ppt/slides/slide1.xml><?xml version="1.0" encoding="utf-8"?>
<p:sld xmlns:p="http://schemas.openxmlformats.org/presentationml/2006/main">
  <p:cSld>
    <p:bg>
      <p:bgPr>
        <a:solidFill xmlns:a="http://schemas.openxmlformats.org/drawingml/2006/main">
          <a:srgbClr val="18222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D619F8C-36E3-4946-B59C-420330A5648D}"/>
              </a:ext>
            </a:extLst>
          </p:cNvPr>
          <p:cNvSpPr>
            <a:spLocks xmlns:a="http://schemas.openxmlformats.org/drawingml/2006/main" noGrp="1"/>
          </p:cNvSpPr>
          <p:nvPr/>
        </p:nvSpPr>
        <p:spPr>
          <a:xfrm xmlns:a="http://schemas.openxmlformats.org/drawingml/2006/main">
            <a:off x="685800" y="1000125"/>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0" b="1">
                <a:solidFill>
                  <a:srgbClr val="F6F4ED"/>
                </a:solidFill>
                <a:latin typeface="Arial"/>
                <a:ea typeface="Arial"/>
                <a:cs typeface="Arial"/>
              </a:defRPr>
            </a:defPPr>
            <a:lvl1pPr>
              <a:defRPr sz="9750" b="1">
                <a:solidFill>
                  <a:srgbClr val="F6F4ED"/>
                </a:solidFill>
                <a:latin typeface="Arial"/>
                <a:ea typeface="Arial"/>
                <a:cs typeface="Arial"/>
              </a:defRPr>
            </a:lvl1pPr>
            <a:lvl2pPr>
              <a:defRPr sz="9750" b="1">
                <a:solidFill>
                  <a:srgbClr val="F6F4ED"/>
                </a:solidFill>
                <a:latin typeface="Arial"/>
                <a:ea typeface="Arial"/>
                <a:cs typeface="Arial"/>
              </a:defRPr>
            </a:lvl2pPr>
            <a:lvl3pPr>
              <a:defRPr sz="9750" b="1">
                <a:solidFill>
                  <a:srgbClr val="F6F4ED"/>
                </a:solidFill>
                <a:latin typeface="Arial"/>
                <a:ea typeface="Arial"/>
                <a:cs typeface="Arial"/>
              </a:defRPr>
            </a:lvl3pPr>
            <a:lvl4pPr>
              <a:defRPr sz="9750" b="1">
                <a:solidFill>
                  <a:srgbClr val="F6F4ED"/>
                </a:solidFill>
                <a:latin typeface="Arial"/>
                <a:ea typeface="Arial"/>
                <a:cs typeface="Arial"/>
              </a:defRPr>
            </a:lvl4pPr>
            <a:lvl5pPr>
              <a:defRPr sz="9750" b="1">
                <a:solidFill>
                  <a:srgbClr val="F6F4ED"/>
                </a:solidFill>
                <a:latin typeface="Arial"/>
                <a:ea typeface="Arial"/>
                <a:cs typeface="Arial"/>
              </a:defRPr>
            </a:lvl5pPr>
            <a:lvl6pPr>
              <a:defRPr sz="9750" b="1">
                <a:solidFill>
                  <a:srgbClr val="F6F4ED"/>
                </a:solidFill>
                <a:latin typeface="Arial"/>
                <a:ea typeface="Arial"/>
                <a:cs typeface="Arial"/>
              </a:defRPr>
            </a:lvl6pPr>
            <a:lvl7pPr>
              <a:defRPr sz="9750" b="1">
                <a:solidFill>
                  <a:srgbClr val="F6F4ED"/>
                </a:solidFill>
                <a:latin typeface="Arial"/>
                <a:ea typeface="Arial"/>
                <a:cs typeface="Arial"/>
              </a:defRPr>
            </a:lvl7pPr>
            <a:lvl8pPr>
              <a:defRPr sz="9750" b="1">
                <a:solidFill>
                  <a:srgbClr val="F6F4ED"/>
                </a:solidFill>
                <a:latin typeface="Arial"/>
                <a:ea typeface="Arial"/>
                <a:cs typeface="Arial"/>
              </a:defRPr>
            </a:lvl8pPr>
            <a:lvl9pPr>
              <a:defRPr sz="9750" b="1">
                <a:solidFill>
                  <a:srgbClr val="F6F4ED"/>
                </a:solidFill>
                <a:latin typeface="Arial"/>
                <a:ea typeface="Arial"/>
                <a:cs typeface="Arial"/>
              </a:defRPr>
            </a:lvl9pPr>
          </a:lstStyle>
          <a:p xmlns:a="http://schemas.openxmlformats.org/drawingml/2006/main">
            <a:pPr>
              <a:defRPr sz="9750" b="1">
                <a:solidFill>
                  <a:srgbClr val="F6F4ED"/>
                </a:solidFill>
                <a:latin typeface="Arial"/>
                <a:ea typeface="Arial"/>
                <a:cs typeface="Arial"/>
              </a:defRPr>
            </a:pPr>
            <a:r>
              <a:rPr sz="9750" b="1">
                <a:solidFill>
                  <a:srgbClr val="F6F4ED"/>
                </a:solidFill>
                <a:latin typeface="Arial"/>
                <a:ea typeface="Arial"/>
                <a:cs typeface="Arial"/>
              </a:rPr>
              <a:t>AYA</a:t>
            </a:r>
          </a:p>
        </p:txBody>
      </p:sp>
      <p:sp>
        <p:nvSpPr>
          <p:cNvPr id="2" name="">
            <a:extLst xmlns:a="http://schemas.openxmlformats.org/drawingml/2006/main">
              <a:ext uri="{FF2B5EF4-FFF2-40B4-BE49-F238E27FC236}">
                <a16:creationId xmlns:a16="http://schemas.microsoft.com/office/drawing/2014/main" id="{1AD6CC83-EAEA-4702-935E-CDAE5A4CAE36}"/>
              </a:ext>
            </a:extLst>
          </p:cNvPr>
          <p:cNvSpPr>
            <a:spLocks xmlns:a="http://schemas.openxmlformats.org/drawingml/2006/main" noGrp="1"/>
          </p:cNvSpPr>
          <p:nvPr/>
        </p:nvSpPr>
        <p:spPr>
          <a:xfrm xmlns:a="http://schemas.openxmlformats.org/drawingml/2006/main">
            <a:off x="762000" y="3143250"/>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0">
                <a:solidFill>
                  <a:srgbClr val="F6F4ED"/>
                </a:solidFill>
                <a:latin typeface="Arial"/>
                <a:ea typeface="Arial"/>
                <a:cs typeface="Arial"/>
              </a:defRPr>
            </a:defPPr>
            <a:lvl1pPr>
              <a:defRPr sz="3600" b="0">
                <a:solidFill>
                  <a:srgbClr val="F6F4ED"/>
                </a:solidFill>
                <a:latin typeface="Arial"/>
                <a:ea typeface="Arial"/>
                <a:cs typeface="Arial"/>
              </a:defRPr>
            </a:lvl1pPr>
            <a:lvl2pPr>
              <a:defRPr sz="3600" b="0">
                <a:solidFill>
                  <a:srgbClr val="F6F4ED"/>
                </a:solidFill>
                <a:latin typeface="Arial"/>
                <a:ea typeface="Arial"/>
                <a:cs typeface="Arial"/>
              </a:defRPr>
            </a:lvl2pPr>
            <a:lvl3pPr>
              <a:defRPr sz="3600" b="0">
                <a:solidFill>
                  <a:srgbClr val="F6F4ED"/>
                </a:solidFill>
                <a:latin typeface="Arial"/>
                <a:ea typeface="Arial"/>
                <a:cs typeface="Arial"/>
              </a:defRPr>
            </a:lvl3pPr>
            <a:lvl4pPr>
              <a:defRPr sz="3600" b="0">
                <a:solidFill>
                  <a:srgbClr val="F6F4ED"/>
                </a:solidFill>
                <a:latin typeface="Arial"/>
                <a:ea typeface="Arial"/>
                <a:cs typeface="Arial"/>
              </a:defRPr>
            </a:lvl4pPr>
            <a:lvl5pPr>
              <a:defRPr sz="3600" b="0">
                <a:solidFill>
                  <a:srgbClr val="F6F4ED"/>
                </a:solidFill>
                <a:latin typeface="Arial"/>
                <a:ea typeface="Arial"/>
                <a:cs typeface="Arial"/>
              </a:defRPr>
            </a:lvl5pPr>
            <a:lvl6pPr>
              <a:defRPr sz="3600" b="0">
                <a:solidFill>
                  <a:srgbClr val="F6F4ED"/>
                </a:solidFill>
                <a:latin typeface="Arial"/>
                <a:ea typeface="Arial"/>
                <a:cs typeface="Arial"/>
              </a:defRPr>
            </a:lvl6pPr>
            <a:lvl7pPr>
              <a:defRPr sz="3600" b="0">
                <a:solidFill>
                  <a:srgbClr val="F6F4ED"/>
                </a:solidFill>
                <a:latin typeface="Arial"/>
                <a:ea typeface="Arial"/>
                <a:cs typeface="Arial"/>
              </a:defRPr>
            </a:lvl7pPr>
            <a:lvl8pPr>
              <a:defRPr sz="3600" b="0">
                <a:solidFill>
                  <a:srgbClr val="F6F4ED"/>
                </a:solidFill>
                <a:latin typeface="Arial"/>
                <a:ea typeface="Arial"/>
                <a:cs typeface="Arial"/>
              </a:defRPr>
            </a:lvl8pPr>
            <a:lvl9pPr>
              <a:defRPr sz="3600" b="0">
                <a:solidFill>
                  <a:srgbClr val="F6F4ED"/>
                </a:solidFill>
                <a:latin typeface="Arial"/>
                <a:ea typeface="Arial"/>
                <a:cs typeface="Arial"/>
              </a:defRPr>
            </a:lvl9pPr>
          </a:lstStyle>
          <a:p xmlns:a="http://schemas.openxmlformats.org/drawingml/2006/main">
            <a:pPr>
              <a:defRPr sz="3600" b="0">
                <a:solidFill>
                  <a:srgbClr val="F6F4ED"/>
                </a:solidFill>
                <a:latin typeface="Arial"/>
                <a:ea typeface="Arial"/>
                <a:cs typeface="Arial"/>
              </a:defRPr>
            </a:pPr>
            <a:r>
              <a:rPr sz="3600" b="0">
                <a:solidFill>
                  <a:srgbClr val="F6F4ED"/>
                </a:solidFill>
                <a:latin typeface="Arial"/>
                <a:ea typeface="Arial"/>
                <a:cs typeface="Arial"/>
              </a:rPr>
              <a:t>Recover software.</a:t>
            </a:r>
          </a:p>
          <a:p xmlns:a="http://schemas.openxmlformats.org/drawingml/2006/main">
            <a:pPr>
              <a:defRPr sz="3600" b="0">
                <a:solidFill>
                  <a:srgbClr val="F6F4ED"/>
                </a:solidFill>
                <a:latin typeface="Arial"/>
                <a:ea typeface="Arial"/>
                <a:cs typeface="Arial"/>
              </a:defRPr>
            </a:pPr>
            <a:r>
              <a:rPr sz="3600" b="0">
                <a:solidFill>
                  <a:srgbClr val="F6F4ED"/>
                </a:solidFill>
                <a:latin typeface="Arial"/>
                <a:ea typeface="Arial"/>
                <a:cs typeface="Arial"/>
              </a:rPr>
              <a:t>Improve the agents that build it.</a:t>
            </a:r>
          </a:p>
        </p:txBody>
      </p:sp>
      <p:sp>
        <p:nvSpPr>
          <p:cNvPr id="3" name="">
            <a:extLst xmlns:a="http://schemas.openxmlformats.org/drawingml/2006/main">
              <a:ext uri="{FF2B5EF4-FFF2-40B4-BE49-F238E27FC236}">
                <a16:creationId xmlns:a16="http://schemas.microsoft.com/office/drawing/2014/main" id="{8417E77E-5DF9-4EA0-BA8C-31E979552C25}"/>
              </a:ext>
            </a:extLst>
          </p:cNvPr>
          <p:cNvSpPr>
            <a:spLocks xmlns:a="http://schemas.openxmlformats.org/drawingml/2006/main" noGrp="1"/>
          </p:cNvSpPr>
          <p:nvPr/>
        </p:nvSpPr>
        <p:spPr>
          <a:xfrm xmlns:a="http://schemas.openxmlformats.org/drawingml/2006/main">
            <a:off x="7620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BCD2C7"/>
                </a:solidFill>
                <a:latin typeface="Arial"/>
                <a:ea typeface="Arial"/>
                <a:cs typeface="Arial"/>
              </a:defRPr>
            </a:defPPr>
            <a:lvl1pPr>
              <a:defRPr sz="2025" b="0">
                <a:solidFill>
                  <a:srgbClr val="BCD2C7"/>
                </a:solidFill>
                <a:latin typeface="Arial"/>
                <a:ea typeface="Arial"/>
                <a:cs typeface="Arial"/>
              </a:defRPr>
            </a:lvl1pPr>
            <a:lvl2pPr>
              <a:defRPr sz="2025" b="0">
                <a:solidFill>
                  <a:srgbClr val="BCD2C7"/>
                </a:solidFill>
                <a:latin typeface="Arial"/>
                <a:ea typeface="Arial"/>
                <a:cs typeface="Arial"/>
              </a:defRPr>
            </a:lvl2pPr>
            <a:lvl3pPr>
              <a:defRPr sz="2025" b="0">
                <a:solidFill>
                  <a:srgbClr val="BCD2C7"/>
                </a:solidFill>
                <a:latin typeface="Arial"/>
                <a:ea typeface="Arial"/>
                <a:cs typeface="Arial"/>
              </a:defRPr>
            </a:lvl3pPr>
            <a:lvl4pPr>
              <a:defRPr sz="2025" b="0">
                <a:solidFill>
                  <a:srgbClr val="BCD2C7"/>
                </a:solidFill>
                <a:latin typeface="Arial"/>
                <a:ea typeface="Arial"/>
                <a:cs typeface="Arial"/>
              </a:defRPr>
            </a:lvl4pPr>
            <a:lvl5pPr>
              <a:defRPr sz="2025" b="0">
                <a:solidFill>
                  <a:srgbClr val="BCD2C7"/>
                </a:solidFill>
                <a:latin typeface="Arial"/>
                <a:ea typeface="Arial"/>
                <a:cs typeface="Arial"/>
              </a:defRPr>
            </a:lvl5pPr>
            <a:lvl6pPr>
              <a:defRPr sz="2025" b="0">
                <a:solidFill>
                  <a:srgbClr val="BCD2C7"/>
                </a:solidFill>
                <a:latin typeface="Arial"/>
                <a:ea typeface="Arial"/>
                <a:cs typeface="Arial"/>
              </a:defRPr>
            </a:lvl6pPr>
            <a:lvl7pPr>
              <a:defRPr sz="2025" b="0">
                <a:solidFill>
                  <a:srgbClr val="BCD2C7"/>
                </a:solidFill>
                <a:latin typeface="Arial"/>
                <a:ea typeface="Arial"/>
                <a:cs typeface="Arial"/>
              </a:defRPr>
            </a:lvl7pPr>
            <a:lvl8pPr>
              <a:defRPr sz="2025" b="0">
                <a:solidFill>
                  <a:srgbClr val="BCD2C7"/>
                </a:solidFill>
                <a:latin typeface="Arial"/>
                <a:ea typeface="Arial"/>
                <a:cs typeface="Arial"/>
              </a:defRPr>
            </a:lvl8pPr>
            <a:lvl9pPr>
              <a:defRPr sz="2025" b="0">
                <a:solidFill>
                  <a:srgbClr val="BCD2C7"/>
                </a:solidFill>
                <a:latin typeface="Arial"/>
                <a:ea typeface="Arial"/>
                <a:cs typeface="Arial"/>
              </a:defRPr>
            </a:lvl9pPr>
          </a:lstStyle>
          <a:p xmlns:a="http://schemas.openxmlformats.org/drawingml/2006/main">
            <a:pPr>
              <a:defRPr sz="2025" b="0">
                <a:solidFill>
                  <a:srgbClr val="BCD2C7"/>
                </a:solidFill>
                <a:latin typeface="Arial"/>
                <a:ea typeface="Arial"/>
                <a:cs typeface="Arial"/>
              </a:defRPr>
            </a:pPr>
            <a:r>
              <a:rPr sz="2025" b="0">
                <a:solidFill>
                  <a:srgbClr val="BCD2C7"/>
                </a:solidFill>
                <a:latin typeface="Arial"/>
                <a:ea typeface="Arial"/>
                <a:cs typeface="Arial"/>
              </a:rPr>
              <a:t>Crusoe · Hermes · OpenShell · REA · MASS</a:t>
            </a:r>
          </a:p>
        </p:txBody>
      </p:sp>
    </p:spTree>
    <p:extLst>
      <p:ext uri="{BB962C8B-B14F-4D97-AF65-F5344CB8AC3E}">
        <p14:creationId xmlns:p14="http://schemas.microsoft.com/office/powerpoint/2010/main" val="1449838065"/>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68E4F8-67A1-415D-8FFA-44ECEA0F22D0}"/>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A feature request becomes a reviewable change</a:t>
            </a:r>
          </a:p>
        </p:txBody>
      </p:sp>
      <p:sp>
        <p:nvSpPr>
          <p:cNvPr id="2" name="">
            <a:extLst xmlns:a="http://schemas.openxmlformats.org/drawingml/2006/main">
              <a:ext uri="{FF2B5EF4-FFF2-40B4-BE49-F238E27FC236}">
                <a16:creationId xmlns:a16="http://schemas.microsoft.com/office/drawing/2014/main" id="{92CA77A2-0550-4725-B8A4-AA9697DD5ADF}"/>
              </a:ext>
            </a:extLst>
          </p:cNvPr>
          <p:cNvSpPr>
            <a:spLocks xmlns:a="http://schemas.openxmlformats.org/drawingml/2006/main" noGrp="1"/>
          </p:cNvSpPr>
          <p:nvPr/>
        </p:nvSpPr>
        <p:spPr>
          <a:xfrm xmlns:a="http://schemas.openxmlformats.org/drawingml/2006/main">
            <a:off x="685800" y="1666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B6B50"/>
                </a:solidFill>
                <a:latin typeface="Arial"/>
                <a:ea typeface="Arial"/>
                <a:cs typeface="Arial"/>
              </a:defRPr>
            </a:defPPr>
            <a:lvl1pPr>
              <a:defRPr sz="1725" b="1">
                <a:solidFill>
                  <a:srgbClr val="0B6B50"/>
                </a:solidFill>
                <a:latin typeface="Arial"/>
                <a:ea typeface="Arial"/>
                <a:cs typeface="Arial"/>
              </a:defRPr>
            </a:lvl1pPr>
            <a:lvl2pPr>
              <a:defRPr sz="1725" b="1">
                <a:solidFill>
                  <a:srgbClr val="0B6B50"/>
                </a:solidFill>
                <a:latin typeface="Arial"/>
                <a:ea typeface="Arial"/>
                <a:cs typeface="Arial"/>
              </a:defRPr>
            </a:lvl2pPr>
            <a:lvl3pPr>
              <a:defRPr sz="1725" b="1">
                <a:solidFill>
                  <a:srgbClr val="0B6B50"/>
                </a:solidFill>
                <a:latin typeface="Arial"/>
                <a:ea typeface="Arial"/>
                <a:cs typeface="Arial"/>
              </a:defRPr>
            </a:lvl3pPr>
            <a:lvl4pPr>
              <a:defRPr sz="1725" b="1">
                <a:solidFill>
                  <a:srgbClr val="0B6B50"/>
                </a:solidFill>
                <a:latin typeface="Arial"/>
                <a:ea typeface="Arial"/>
                <a:cs typeface="Arial"/>
              </a:defRPr>
            </a:lvl4pPr>
            <a:lvl5pPr>
              <a:defRPr sz="1725" b="1">
                <a:solidFill>
                  <a:srgbClr val="0B6B50"/>
                </a:solidFill>
                <a:latin typeface="Arial"/>
                <a:ea typeface="Arial"/>
                <a:cs typeface="Arial"/>
              </a:defRPr>
            </a:lvl5pPr>
            <a:lvl6pPr>
              <a:defRPr sz="1725" b="1">
                <a:solidFill>
                  <a:srgbClr val="0B6B50"/>
                </a:solidFill>
                <a:latin typeface="Arial"/>
                <a:ea typeface="Arial"/>
                <a:cs typeface="Arial"/>
              </a:defRPr>
            </a:lvl6pPr>
            <a:lvl7pPr>
              <a:defRPr sz="1725" b="1">
                <a:solidFill>
                  <a:srgbClr val="0B6B50"/>
                </a:solidFill>
                <a:latin typeface="Arial"/>
                <a:ea typeface="Arial"/>
                <a:cs typeface="Arial"/>
              </a:defRPr>
            </a:lvl7pPr>
            <a:lvl8pPr>
              <a:defRPr sz="1725" b="1">
                <a:solidFill>
                  <a:srgbClr val="0B6B50"/>
                </a:solidFill>
                <a:latin typeface="Arial"/>
                <a:ea typeface="Arial"/>
                <a:cs typeface="Arial"/>
              </a:defRPr>
            </a:lvl8pPr>
            <a:lvl9pPr>
              <a:defRPr sz="1725" b="1">
                <a:solidFill>
                  <a:srgbClr val="0B6B50"/>
                </a:solidFill>
                <a:latin typeface="Arial"/>
                <a:ea typeface="Arial"/>
                <a:cs typeface="Arial"/>
              </a:defRPr>
            </a:lvl9pPr>
          </a:lstStyle>
          <a:p xmlns:a="http://schemas.openxmlformats.org/drawingml/2006/main">
            <a:pPr>
              <a:defRPr sz="1725" b="1">
                <a:solidFill>
                  <a:srgbClr val="0B6B50"/>
                </a:solidFill>
                <a:latin typeface="Arial"/>
                <a:ea typeface="Arial"/>
                <a:cs typeface="Arial"/>
              </a:defRPr>
            </a:pPr>
            <a:r>
              <a:rPr sz="1725" b="1">
                <a:solidFill>
                  <a:srgbClr val="0B6B50"/>
                </a:solidFill>
                <a:latin typeface="Arial"/>
                <a:ea typeface="Arial"/>
                <a:cs typeface="Arial"/>
              </a:rPr>
              <a:t>YOUR REPOSITORY + A REFERENCE</a:t>
            </a:r>
          </a:p>
        </p:txBody>
      </p:sp>
      <p:sp>
        <p:nvSpPr>
          <p:cNvPr id="3" name="">
            <a:extLst xmlns:a="http://schemas.openxmlformats.org/drawingml/2006/main">
              <a:ext uri="{FF2B5EF4-FFF2-40B4-BE49-F238E27FC236}">
                <a16:creationId xmlns:a16="http://schemas.microsoft.com/office/drawing/2014/main" id="{C7ED561A-B7B9-4F6A-985C-AEACFCCA87CF}"/>
              </a:ext>
            </a:extLst>
          </p:cNvPr>
          <p:cNvSpPr>
            <a:spLocks xmlns:a="http://schemas.openxmlformats.org/drawingml/2006/main" noGrp="1"/>
          </p:cNvSpPr>
          <p:nvPr/>
        </p:nvSpPr>
        <p:spPr>
          <a:xfrm xmlns:a="http://schemas.openxmlformats.org/drawingml/2006/main">
            <a:off x="685800" y="2476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1">
                <a:solidFill>
                  <a:srgbClr val="182221"/>
                </a:solidFill>
                <a:latin typeface="Arial"/>
                <a:ea typeface="Arial"/>
                <a:cs typeface="Arial"/>
              </a:defRPr>
            </a:defPPr>
            <a:lvl1pPr>
              <a:defRPr sz="3075" b="1">
                <a:solidFill>
                  <a:srgbClr val="182221"/>
                </a:solidFill>
                <a:latin typeface="Arial"/>
                <a:ea typeface="Arial"/>
                <a:cs typeface="Arial"/>
              </a:defRPr>
            </a:lvl1pPr>
            <a:lvl2pPr>
              <a:defRPr sz="3075" b="1">
                <a:solidFill>
                  <a:srgbClr val="182221"/>
                </a:solidFill>
                <a:latin typeface="Arial"/>
                <a:ea typeface="Arial"/>
                <a:cs typeface="Arial"/>
              </a:defRPr>
            </a:lvl2pPr>
            <a:lvl3pPr>
              <a:defRPr sz="3075" b="1">
                <a:solidFill>
                  <a:srgbClr val="182221"/>
                </a:solidFill>
                <a:latin typeface="Arial"/>
                <a:ea typeface="Arial"/>
                <a:cs typeface="Arial"/>
              </a:defRPr>
            </a:lvl3pPr>
            <a:lvl4pPr>
              <a:defRPr sz="3075" b="1">
                <a:solidFill>
                  <a:srgbClr val="182221"/>
                </a:solidFill>
                <a:latin typeface="Arial"/>
                <a:ea typeface="Arial"/>
                <a:cs typeface="Arial"/>
              </a:defRPr>
            </a:lvl4pPr>
            <a:lvl5pPr>
              <a:defRPr sz="3075" b="1">
                <a:solidFill>
                  <a:srgbClr val="182221"/>
                </a:solidFill>
                <a:latin typeface="Arial"/>
                <a:ea typeface="Arial"/>
                <a:cs typeface="Arial"/>
              </a:defRPr>
            </a:lvl5pPr>
            <a:lvl6pPr>
              <a:defRPr sz="3075" b="1">
                <a:solidFill>
                  <a:srgbClr val="182221"/>
                </a:solidFill>
                <a:latin typeface="Arial"/>
                <a:ea typeface="Arial"/>
                <a:cs typeface="Arial"/>
              </a:defRPr>
            </a:lvl6pPr>
            <a:lvl7pPr>
              <a:defRPr sz="3075" b="1">
                <a:solidFill>
                  <a:srgbClr val="182221"/>
                </a:solidFill>
                <a:latin typeface="Arial"/>
                <a:ea typeface="Arial"/>
                <a:cs typeface="Arial"/>
              </a:defRPr>
            </a:lvl7pPr>
            <a:lvl8pPr>
              <a:defRPr sz="3075" b="1">
                <a:solidFill>
                  <a:srgbClr val="182221"/>
                </a:solidFill>
                <a:latin typeface="Arial"/>
                <a:ea typeface="Arial"/>
                <a:cs typeface="Arial"/>
              </a:defRPr>
            </a:lvl8pPr>
            <a:lvl9pPr>
              <a:defRPr sz="3075" b="1">
                <a:solidFill>
                  <a:srgbClr val="182221"/>
                </a:solidFill>
                <a:latin typeface="Arial"/>
                <a:ea typeface="Arial"/>
                <a:cs typeface="Arial"/>
              </a:defRPr>
            </a:lvl9pPr>
          </a:lstStyle>
          <a:p xmlns:a="http://schemas.openxmlformats.org/drawingml/2006/main">
            <a:pPr>
              <a:defRPr sz="3075" b="1">
                <a:solidFill>
                  <a:srgbClr val="182221"/>
                </a:solidFill>
                <a:latin typeface="Arial"/>
                <a:ea typeface="Arial"/>
                <a:cs typeface="Arial"/>
              </a:defRPr>
            </a:pPr>
            <a:r>
              <a:rPr sz="3075" b="1">
                <a:solidFill>
                  <a:srgbClr val="182221"/>
                </a:solidFill>
                <a:latin typeface="Arial"/>
                <a:ea typeface="Arial"/>
                <a:cs typeface="Arial"/>
              </a:rPr>
              <a:t>Recover the behavior</a:t>
            </a:r>
          </a:p>
        </p:txBody>
      </p:sp>
      <p:sp>
        <p:nvSpPr>
          <p:cNvPr id="4" name="">
            <a:extLst xmlns:a="http://schemas.openxmlformats.org/drawingml/2006/main">
              <a:ext uri="{FF2B5EF4-FFF2-40B4-BE49-F238E27FC236}">
                <a16:creationId xmlns:a16="http://schemas.microsoft.com/office/drawing/2014/main" id="{EC37097C-BE3B-4FE0-B786-70CC47527B04}"/>
              </a:ext>
            </a:extLst>
          </p:cNvPr>
          <p:cNvSpPr>
            <a:spLocks xmlns:a="http://schemas.openxmlformats.org/drawingml/2006/main" noGrp="1"/>
          </p:cNvSpPr>
          <p:nvPr/>
        </p:nvSpPr>
        <p:spPr>
          <a:xfrm xmlns:a="http://schemas.openxmlformats.org/drawingml/2006/main">
            <a:off x="685800" y="3238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82221"/>
                </a:solidFill>
                <a:latin typeface="Arial"/>
                <a:ea typeface="Arial"/>
                <a:cs typeface="Arial"/>
              </a:defRPr>
            </a:defPPr>
            <a:lvl1pPr>
              <a:defRPr sz="2250" b="0">
                <a:solidFill>
                  <a:srgbClr val="182221"/>
                </a:solidFill>
                <a:latin typeface="Arial"/>
                <a:ea typeface="Arial"/>
                <a:cs typeface="Arial"/>
              </a:defRPr>
            </a:lvl1pPr>
            <a:lvl2pPr>
              <a:defRPr sz="2250" b="0">
                <a:solidFill>
                  <a:srgbClr val="182221"/>
                </a:solidFill>
                <a:latin typeface="Arial"/>
                <a:ea typeface="Arial"/>
                <a:cs typeface="Arial"/>
              </a:defRPr>
            </a:lvl2pPr>
            <a:lvl3pPr>
              <a:defRPr sz="2250" b="0">
                <a:solidFill>
                  <a:srgbClr val="182221"/>
                </a:solidFill>
                <a:latin typeface="Arial"/>
                <a:ea typeface="Arial"/>
                <a:cs typeface="Arial"/>
              </a:defRPr>
            </a:lvl3pPr>
            <a:lvl4pPr>
              <a:defRPr sz="2250" b="0">
                <a:solidFill>
                  <a:srgbClr val="182221"/>
                </a:solidFill>
                <a:latin typeface="Arial"/>
                <a:ea typeface="Arial"/>
                <a:cs typeface="Arial"/>
              </a:defRPr>
            </a:lvl4pPr>
            <a:lvl5pPr>
              <a:defRPr sz="2250" b="0">
                <a:solidFill>
                  <a:srgbClr val="182221"/>
                </a:solidFill>
                <a:latin typeface="Arial"/>
                <a:ea typeface="Arial"/>
                <a:cs typeface="Arial"/>
              </a:defRPr>
            </a:lvl5pPr>
            <a:lvl6pPr>
              <a:defRPr sz="2250" b="0">
                <a:solidFill>
                  <a:srgbClr val="182221"/>
                </a:solidFill>
                <a:latin typeface="Arial"/>
                <a:ea typeface="Arial"/>
                <a:cs typeface="Arial"/>
              </a:defRPr>
            </a:lvl6pPr>
            <a:lvl7pPr>
              <a:defRPr sz="2250" b="0">
                <a:solidFill>
                  <a:srgbClr val="182221"/>
                </a:solidFill>
                <a:latin typeface="Arial"/>
                <a:ea typeface="Arial"/>
                <a:cs typeface="Arial"/>
              </a:defRPr>
            </a:lvl7pPr>
            <a:lvl8pPr>
              <a:defRPr sz="2250" b="0">
                <a:solidFill>
                  <a:srgbClr val="182221"/>
                </a:solidFill>
                <a:latin typeface="Arial"/>
                <a:ea typeface="Arial"/>
                <a:cs typeface="Arial"/>
              </a:defRPr>
            </a:lvl8pPr>
            <a:lvl9pPr>
              <a:defRPr sz="2250" b="0">
                <a:solidFill>
                  <a:srgbClr val="182221"/>
                </a:solidFill>
                <a:latin typeface="Arial"/>
                <a:ea typeface="Arial"/>
                <a:cs typeface="Arial"/>
              </a:defRPr>
            </a:lvl9pPr>
          </a:lstStyle>
          <a:p xmlns:a="http://schemas.openxmlformats.org/drawingml/2006/main">
            <a:pPr>
              <a:defRPr sz="2250" b="0">
                <a:solidFill>
                  <a:srgbClr val="182221"/>
                </a:solidFill>
                <a:latin typeface="Arial"/>
                <a:ea typeface="Arial"/>
                <a:cs typeface="Arial"/>
              </a:defRPr>
            </a:pPr>
            <a:r>
              <a:rPr sz="2250" b="0">
                <a:solidFill>
                  <a:srgbClr val="182221"/>
                </a:solidFill>
                <a:latin typeface="Arial"/>
                <a:ea typeface="Arial"/>
                <a:cs typeface="Arial"/>
              </a:rPr>
              <a:t>Investigate what it does, including edge cases.</a:t>
            </a:r>
          </a:p>
          <a:p xmlns:a="http://schemas.openxmlformats.org/drawingml/2006/main">
            <a:pPr>
              <a:defRPr sz="2250" b="0">
                <a:solidFill>
                  <a:srgbClr val="182221"/>
                </a:solidFill>
                <a:latin typeface="Arial"/>
                <a:ea typeface="Arial"/>
                <a:cs typeface="Arial"/>
              </a:defRPr>
            </a:pPr>
            <a:r>
              <a:rPr sz="2250" b="0">
                <a:solidFill>
                  <a:srgbClr val="182221"/>
                </a:solidFill>
                <a:latin typeface="Arial"/>
                <a:ea typeface="Arial"/>
                <a:cs typeface="Arial"/>
              </a:rPr>
              <a:t>Define what must work in your product.</a:t>
            </a:r>
          </a:p>
        </p:txBody>
      </p:sp>
      <p:sp>
        <p:nvSpPr>
          <p:cNvPr id="5" name="">
            <a:extLst xmlns:a="http://schemas.openxmlformats.org/drawingml/2006/main">
              <a:ext uri="{FF2B5EF4-FFF2-40B4-BE49-F238E27FC236}">
                <a16:creationId xmlns:a16="http://schemas.microsoft.com/office/drawing/2014/main" id="{59EEF1A3-2B38-4763-AFB4-2F1A5985AAD6}"/>
              </a:ext>
            </a:extLst>
          </p:cNvPr>
          <p:cNvSpPr>
            <a:spLocks xmlns:a="http://schemas.openxmlformats.org/drawingml/2006/main" noGrp="1"/>
          </p:cNvSpPr>
          <p:nvPr/>
        </p:nvSpPr>
        <p:spPr>
          <a:xfrm xmlns:a="http://schemas.openxmlformats.org/drawingml/2006/main">
            <a:off x="685800" y="47625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B6B50"/>
                </a:solidFill>
                <a:latin typeface="Arial"/>
                <a:ea typeface="Arial"/>
                <a:cs typeface="Arial"/>
              </a:defRPr>
            </a:defPPr>
            <a:lvl1pPr>
              <a:defRPr sz="3150" b="1">
                <a:solidFill>
                  <a:srgbClr val="0B6B50"/>
                </a:solidFill>
                <a:latin typeface="Arial"/>
                <a:ea typeface="Arial"/>
                <a:cs typeface="Arial"/>
              </a:defRPr>
            </a:lvl1pPr>
            <a:lvl2pPr>
              <a:defRPr sz="3150" b="1">
                <a:solidFill>
                  <a:srgbClr val="0B6B50"/>
                </a:solidFill>
                <a:latin typeface="Arial"/>
                <a:ea typeface="Arial"/>
                <a:cs typeface="Arial"/>
              </a:defRPr>
            </a:lvl2pPr>
            <a:lvl3pPr>
              <a:defRPr sz="3150" b="1">
                <a:solidFill>
                  <a:srgbClr val="0B6B50"/>
                </a:solidFill>
                <a:latin typeface="Arial"/>
                <a:ea typeface="Arial"/>
                <a:cs typeface="Arial"/>
              </a:defRPr>
            </a:lvl3pPr>
            <a:lvl4pPr>
              <a:defRPr sz="3150" b="1">
                <a:solidFill>
                  <a:srgbClr val="0B6B50"/>
                </a:solidFill>
                <a:latin typeface="Arial"/>
                <a:ea typeface="Arial"/>
                <a:cs typeface="Arial"/>
              </a:defRPr>
            </a:lvl4pPr>
            <a:lvl5pPr>
              <a:defRPr sz="3150" b="1">
                <a:solidFill>
                  <a:srgbClr val="0B6B50"/>
                </a:solidFill>
                <a:latin typeface="Arial"/>
                <a:ea typeface="Arial"/>
                <a:cs typeface="Arial"/>
              </a:defRPr>
            </a:lvl5pPr>
            <a:lvl6pPr>
              <a:defRPr sz="3150" b="1">
                <a:solidFill>
                  <a:srgbClr val="0B6B50"/>
                </a:solidFill>
                <a:latin typeface="Arial"/>
                <a:ea typeface="Arial"/>
                <a:cs typeface="Arial"/>
              </a:defRPr>
            </a:lvl6pPr>
            <a:lvl7pPr>
              <a:defRPr sz="3150" b="1">
                <a:solidFill>
                  <a:srgbClr val="0B6B50"/>
                </a:solidFill>
                <a:latin typeface="Arial"/>
                <a:ea typeface="Arial"/>
                <a:cs typeface="Arial"/>
              </a:defRPr>
            </a:lvl7pPr>
            <a:lvl8pPr>
              <a:defRPr sz="3150" b="1">
                <a:solidFill>
                  <a:srgbClr val="0B6B50"/>
                </a:solidFill>
                <a:latin typeface="Arial"/>
                <a:ea typeface="Arial"/>
                <a:cs typeface="Arial"/>
              </a:defRPr>
            </a:lvl8pPr>
            <a:lvl9pPr>
              <a:defRPr sz="3150" b="1">
                <a:solidFill>
                  <a:srgbClr val="0B6B50"/>
                </a:solidFill>
                <a:latin typeface="Arial"/>
                <a:ea typeface="Arial"/>
                <a:cs typeface="Arial"/>
              </a:defRPr>
            </a:lvl9pPr>
          </a:lstStyle>
          <a:p xmlns:a="http://schemas.openxmlformats.org/drawingml/2006/main">
            <a:pPr>
              <a:defRPr sz="3150" b="1">
                <a:solidFill>
                  <a:srgbClr val="0B6B50"/>
                </a:solidFill>
                <a:latin typeface="Arial"/>
                <a:ea typeface="Arial"/>
                <a:cs typeface="Arial"/>
              </a:defRPr>
            </a:pPr>
            <a:r>
              <a:rPr sz="3150" b="1">
                <a:solidFill>
                  <a:srgbClr val="0B6B50"/>
                </a:solidFill>
                <a:latin typeface="Arial"/>
                <a:ea typeface="Arial"/>
                <a:cs typeface="Arial"/>
              </a:rPr>
              <a:t>Inspect  →  build  →  test  →  review</a:t>
            </a:r>
          </a:p>
        </p:txBody>
      </p:sp>
      <p:sp>
        <p:nvSpPr>
          <p:cNvPr id="6" name="">
            <a:extLst xmlns:a="http://schemas.openxmlformats.org/drawingml/2006/main">
              <a:ext uri="{FF2B5EF4-FFF2-40B4-BE49-F238E27FC236}">
                <a16:creationId xmlns:a16="http://schemas.microsoft.com/office/drawing/2014/main" id="{BEB94DC4-E7CE-4AA1-9798-8BA9A8D3905F}"/>
              </a:ext>
            </a:extLst>
          </p:cNvPr>
          <p:cNvSpPr>
            <a:spLocks xmlns:a="http://schemas.openxmlformats.org/drawingml/2006/main" noGrp="1"/>
          </p:cNvSpPr>
          <p:nvPr/>
        </p:nvSpPr>
        <p:spPr>
          <a:xfrm xmlns:a="http://schemas.openxmlformats.org/drawingml/2006/main">
            <a:off x="685800" y="60483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35E"/>
                </a:solidFill>
                <a:latin typeface="Arial"/>
                <a:ea typeface="Arial"/>
                <a:cs typeface="Arial"/>
              </a:defRPr>
            </a:defPPr>
            <a:lvl1pPr>
              <a:defRPr sz="1725" b="0">
                <a:solidFill>
                  <a:srgbClr val="59635E"/>
                </a:solidFill>
                <a:latin typeface="Arial"/>
                <a:ea typeface="Arial"/>
                <a:cs typeface="Arial"/>
              </a:defRPr>
            </a:lvl1pPr>
            <a:lvl2pPr>
              <a:defRPr sz="1725" b="0">
                <a:solidFill>
                  <a:srgbClr val="59635E"/>
                </a:solidFill>
                <a:latin typeface="Arial"/>
                <a:ea typeface="Arial"/>
                <a:cs typeface="Arial"/>
              </a:defRPr>
            </a:lvl2pPr>
            <a:lvl3pPr>
              <a:defRPr sz="1725" b="0">
                <a:solidFill>
                  <a:srgbClr val="59635E"/>
                </a:solidFill>
                <a:latin typeface="Arial"/>
                <a:ea typeface="Arial"/>
                <a:cs typeface="Arial"/>
              </a:defRPr>
            </a:lvl3pPr>
            <a:lvl4pPr>
              <a:defRPr sz="1725" b="0">
                <a:solidFill>
                  <a:srgbClr val="59635E"/>
                </a:solidFill>
                <a:latin typeface="Arial"/>
                <a:ea typeface="Arial"/>
                <a:cs typeface="Arial"/>
              </a:defRPr>
            </a:lvl4pPr>
            <a:lvl5pPr>
              <a:defRPr sz="1725" b="0">
                <a:solidFill>
                  <a:srgbClr val="59635E"/>
                </a:solidFill>
                <a:latin typeface="Arial"/>
                <a:ea typeface="Arial"/>
                <a:cs typeface="Arial"/>
              </a:defRPr>
            </a:lvl5pPr>
            <a:lvl6pPr>
              <a:defRPr sz="1725" b="0">
                <a:solidFill>
                  <a:srgbClr val="59635E"/>
                </a:solidFill>
                <a:latin typeface="Arial"/>
                <a:ea typeface="Arial"/>
                <a:cs typeface="Arial"/>
              </a:defRPr>
            </a:lvl6pPr>
            <a:lvl7pPr>
              <a:defRPr sz="1725" b="0">
                <a:solidFill>
                  <a:srgbClr val="59635E"/>
                </a:solidFill>
                <a:latin typeface="Arial"/>
                <a:ea typeface="Arial"/>
                <a:cs typeface="Arial"/>
              </a:defRPr>
            </a:lvl7pPr>
            <a:lvl8pPr>
              <a:defRPr sz="1725" b="0">
                <a:solidFill>
                  <a:srgbClr val="59635E"/>
                </a:solidFill>
                <a:latin typeface="Arial"/>
                <a:ea typeface="Arial"/>
                <a:cs typeface="Arial"/>
              </a:defRPr>
            </a:lvl8pPr>
            <a:lvl9pPr>
              <a:defRPr sz="1725" b="0">
                <a:solidFill>
                  <a:srgbClr val="59635E"/>
                </a:solidFill>
                <a:latin typeface="Arial"/>
                <a:ea typeface="Arial"/>
                <a:cs typeface="Arial"/>
              </a:defRPr>
            </a:lvl9pPr>
          </a:lstStyle>
          <a:p xmlns:a="http://schemas.openxmlformats.org/drawingml/2006/main">
            <a:pPr>
              <a:defRPr sz="1725" b="0">
                <a:solidFill>
                  <a:srgbClr val="59635E"/>
                </a:solidFill>
                <a:latin typeface="Arial"/>
                <a:ea typeface="Arial"/>
                <a:cs typeface="Arial"/>
              </a:defRPr>
            </a:pPr>
            <a:r>
              <a:rPr sz="1725" b="0">
                <a:solidFill>
                  <a:srgbClr val="59635E"/>
                </a:solidFill>
                <a:latin typeface="Arial"/>
                <a:ea typeface="Arial"/>
                <a:cs typeface="Arial"/>
              </a:rPr>
              <a:t>Hermes + REA · OpenShell execution · Crusoe models · GitHub delivery</a:t>
            </a:r>
          </a:p>
        </p:txBody>
      </p:sp>
    </p:spTree>
    <p:extLst>
      <p:ext uri="{BB962C8B-B14F-4D97-AF65-F5344CB8AC3E}">
        <p14:creationId xmlns:p14="http://schemas.microsoft.com/office/powerpoint/2010/main" val="669327964"/>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C48891-36FA-4692-B044-79544FD07F2E}"/>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Target outcome: useful software with evidence</a:t>
            </a:r>
          </a:p>
        </p:txBody>
      </p:sp>
      <p:sp>
        <p:nvSpPr>
          <p:cNvPr id="2" name="">
            <a:extLst xmlns:a="http://schemas.openxmlformats.org/drawingml/2006/main">
              <a:ext uri="{FF2B5EF4-FFF2-40B4-BE49-F238E27FC236}">
                <a16:creationId xmlns:a16="http://schemas.microsoft.com/office/drawing/2014/main" id="{FE7959DA-39D1-4106-8F43-C9AC1D212596}"/>
              </a:ext>
            </a:extLst>
          </p:cNvPr>
          <p:cNvSpPr>
            <a:spLocks xmlns:a="http://schemas.openxmlformats.org/drawingml/2006/main" noGrp="1"/>
          </p:cNvSpPr>
          <p:nvPr/>
        </p:nvSpPr>
        <p:spPr>
          <a:xfrm xmlns:a="http://schemas.openxmlformats.org/drawingml/2006/main">
            <a:off x="685800" y="17621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B6B50"/>
                </a:solidFill>
                <a:latin typeface="Arial"/>
                <a:ea typeface="Arial"/>
                <a:cs typeface="Arial"/>
              </a:defRPr>
            </a:defPPr>
            <a:lvl1pPr>
              <a:defRPr sz="2700" b="1">
                <a:solidFill>
                  <a:srgbClr val="0B6B50"/>
                </a:solidFill>
                <a:latin typeface="Arial"/>
                <a:ea typeface="Arial"/>
                <a:cs typeface="Arial"/>
              </a:defRPr>
            </a:lvl1pPr>
            <a:lvl2pPr>
              <a:defRPr sz="2700" b="1">
                <a:solidFill>
                  <a:srgbClr val="0B6B50"/>
                </a:solidFill>
                <a:latin typeface="Arial"/>
                <a:ea typeface="Arial"/>
                <a:cs typeface="Arial"/>
              </a:defRPr>
            </a:lvl2pPr>
            <a:lvl3pPr>
              <a:defRPr sz="2700" b="1">
                <a:solidFill>
                  <a:srgbClr val="0B6B50"/>
                </a:solidFill>
                <a:latin typeface="Arial"/>
                <a:ea typeface="Arial"/>
                <a:cs typeface="Arial"/>
              </a:defRPr>
            </a:lvl3pPr>
            <a:lvl4pPr>
              <a:defRPr sz="2700" b="1">
                <a:solidFill>
                  <a:srgbClr val="0B6B50"/>
                </a:solidFill>
                <a:latin typeface="Arial"/>
                <a:ea typeface="Arial"/>
                <a:cs typeface="Arial"/>
              </a:defRPr>
            </a:lvl4pPr>
            <a:lvl5pPr>
              <a:defRPr sz="2700" b="1">
                <a:solidFill>
                  <a:srgbClr val="0B6B50"/>
                </a:solidFill>
                <a:latin typeface="Arial"/>
                <a:ea typeface="Arial"/>
                <a:cs typeface="Arial"/>
              </a:defRPr>
            </a:lvl5pPr>
            <a:lvl6pPr>
              <a:defRPr sz="2700" b="1">
                <a:solidFill>
                  <a:srgbClr val="0B6B50"/>
                </a:solidFill>
                <a:latin typeface="Arial"/>
                <a:ea typeface="Arial"/>
                <a:cs typeface="Arial"/>
              </a:defRPr>
            </a:lvl6pPr>
            <a:lvl7pPr>
              <a:defRPr sz="2700" b="1">
                <a:solidFill>
                  <a:srgbClr val="0B6B50"/>
                </a:solidFill>
                <a:latin typeface="Arial"/>
                <a:ea typeface="Arial"/>
                <a:cs typeface="Arial"/>
              </a:defRPr>
            </a:lvl7pPr>
            <a:lvl8pPr>
              <a:defRPr sz="2700" b="1">
                <a:solidFill>
                  <a:srgbClr val="0B6B50"/>
                </a:solidFill>
                <a:latin typeface="Arial"/>
                <a:ea typeface="Arial"/>
                <a:cs typeface="Arial"/>
              </a:defRPr>
            </a:lvl8pPr>
            <a:lvl9pPr>
              <a:defRPr sz="2700" b="1">
                <a:solidFill>
                  <a:srgbClr val="0B6B50"/>
                </a:solidFill>
                <a:latin typeface="Arial"/>
                <a:ea typeface="Arial"/>
                <a:cs typeface="Arial"/>
              </a:defRPr>
            </a:lvl9pPr>
          </a:lstStyle>
          <a:p xmlns:a="http://schemas.openxmlformats.org/drawingml/2006/main">
            <a:pPr>
              <a:defRPr sz="2700" b="1">
                <a:solidFill>
                  <a:srgbClr val="0B6B50"/>
                </a:solidFill>
                <a:latin typeface="Arial"/>
                <a:ea typeface="Arial"/>
                <a:cs typeface="Arial"/>
              </a:defRPr>
            </a:pPr>
            <a:r>
              <a:rPr sz="2700" b="1">
                <a:solidFill>
                  <a:srgbClr val="0B6B5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3672D74-929C-4A27-9BC1-EA7209BBEB6E}"/>
              </a:ext>
            </a:extLst>
          </p:cNvPr>
          <p:cNvSpPr>
            <a:spLocks xmlns:a="http://schemas.openxmlformats.org/drawingml/2006/main" noGrp="1"/>
          </p:cNvSpPr>
          <p:nvPr/>
        </p:nvSpPr>
        <p:spPr>
          <a:xfrm xmlns:a="http://schemas.openxmlformats.org/drawingml/2006/main">
            <a:off x="1714500" y="1762125"/>
            <a:ext cx="966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82221"/>
                </a:solidFill>
                <a:latin typeface="Arial"/>
                <a:ea typeface="Arial"/>
                <a:cs typeface="Arial"/>
              </a:defRPr>
            </a:defPPr>
            <a:lvl1pPr>
              <a:defRPr sz="2400" b="0">
                <a:solidFill>
                  <a:srgbClr val="182221"/>
                </a:solidFill>
                <a:latin typeface="Arial"/>
                <a:ea typeface="Arial"/>
                <a:cs typeface="Arial"/>
              </a:defRPr>
            </a:lvl1pPr>
            <a:lvl2pPr>
              <a:defRPr sz="2400" b="0">
                <a:solidFill>
                  <a:srgbClr val="182221"/>
                </a:solidFill>
                <a:latin typeface="Arial"/>
                <a:ea typeface="Arial"/>
                <a:cs typeface="Arial"/>
              </a:defRPr>
            </a:lvl2pPr>
            <a:lvl3pPr>
              <a:defRPr sz="2400" b="0">
                <a:solidFill>
                  <a:srgbClr val="182221"/>
                </a:solidFill>
                <a:latin typeface="Arial"/>
                <a:ea typeface="Arial"/>
                <a:cs typeface="Arial"/>
              </a:defRPr>
            </a:lvl3pPr>
            <a:lvl4pPr>
              <a:defRPr sz="2400" b="0">
                <a:solidFill>
                  <a:srgbClr val="182221"/>
                </a:solidFill>
                <a:latin typeface="Arial"/>
                <a:ea typeface="Arial"/>
                <a:cs typeface="Arial"/>
              </a:defRPr>
            </a:lvl4pPr>
            <a:lvl5pPr>
              <a:defRPr sz="2400" b="0">
                <a:solidFill>
                  <a:srgbClr val="182221"/>
                </a:solidFill>
                <a:latin typeface="Arial"/>
                <a:ea typeface="Arial"/>
                <a:cs typeface="Arial"/>
              </a:defRPr>
            </a:lvl5pPr>
            <a:lvl6pPr>
              <a:defRPr sz="2400" b="0">
                <a:solidFill>
                  <a:srgbClr val="182221"/>
                </a:solidFill>
                <a:latin typeface="Arial"/>
                <a:ea typeface="Arial"/>
                <a:cs typeface="Arial"/>
              </a:defRPr>
            </a:lvl6pPr>
            <a:lvl7pPr>
              <a:defRPr sz="2400" b="0">
                <a:solidFill>
                  <a:srgbClr val="182221"/>
                </a:solidFill>
                <a:latin typeface="Arial"/>
                <a:ea typeface="Arial"/>
                <a:cs typeface="Arial"/>
              </a:defRPr>
            </a:lvl7pPr>
            <a:lvl8pPr>
              <a:defRPr sz="2400" b="0">
                <a:solidFill>
                  <a:srgbClr val="182221"/>
                </a:solidFill>
                <a:latin typeface="Arial"/>
                <a:ea typeface="Arial"/>
                <a:cs typeface="Arial"/>
              </a:defRPr>
            </a:lvl8pPr>
            <a:lvl9pPr>
              <a:defRPr sz="2400" b="0">
                <a:solidFill>
                  <a:srgbClr val="182221"/>
                </a:solidFill>
                <a:latin typeface="Arial"/>
                <a:ea typeface="Arial"/>
                <a:cs typeface="Arial"/>
              </a:defRPr>
            </a:lvl9pPr>
          </a:lstStyle>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A feature that passes independent tests</a:t>
            </a:r>
          </a:p>
        </p:txBody>
      </p:sp>
      <p:sp>
        <p:nvSpPr>
          <p:cNvPr id="4" name="">
            <a:extLst xmlns:a="http://schemas.openxmlformats.org/drawingml/2006/main">
              <a:ext uri="{FF2B5EF4-FFF2-40B4-BE49-F238E27FC236}">
                <a16:creationId xmlns:a16="http://schemas.microsoft.com/office/drawing/2014/main" id="{2C2E9AC2-CEE0-4AF7-9410-28500111FB32}"/>
              </a:ext>
            </a:extLst>
          </p:cNvPr>
          <p:cNvSpPr>
            <a:spLocks xmlns:a="http://schemas.openxmlformats.org/drawingml/2006/main" noGrp="1"/>
          </p:cNvSpPr>
          <p:nvPr/>
        </p:nvSpPr>
        <p:spPr>
          <a:xfrm xmlns:a="http://schemas.openxmlformats.org/drawingml/2006/main">
            <a:off x="685800" y="2714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B6B50"/>
                </a:solidFill>
                <a:latin typeface="Arial"/>
                <a:ea typeface="Arial"/>
                <a:cs typeface="Arial"/>
              </a:defRPr>
            </a:defPPr>
            <a:lvl1pPr>
              <a:defRPr sz="2700" b="1">
                <a:solidFill>
                  <a:srgbClr val="0B6B50"/>
                </a:solidFill>
                <a:latin typeface="Arial"/>
                <a:ea typeface="Arial"/>
                <a:cs typeface="Arial"/>
              </a:defRPr>
            </a:lvl1pPr>
            <a:lvl2pPr>
              <a:defRPr sz="2700" b="1">
                <a:solidFill>
                  <a:srgbClr val="0B6B50"/>
                </a:solidFill>
                <a:latin typeface="Arial"/>
                <a:ea typeface="Arial"/>
                <a:cs typeface="Arial"/>
              </a:defRPr>
            </a:lvl2pPr>
            <a:lvl3pPr>
              <a:defRPr sz="2700" b="1">
                <a:solidFill>
                  <a:srgbClr val="0B6B50"/>
                </a:solidFill>
                <a:latin typeface="Arial"/>
                <a:ea typeface="Arial"/>
                <a:cs typeface="Arial"/>
              </a:defRPr>
            </a:lvl3pPr>
            <a:lvl4pPr>
              <a:defRPr sz="2700" b="1">
                <a:solidFill>
                  <a:srgbClr val="0B6B50"/>
                </a:solidFill>
                <a:latin typeface="Arial"/>
                <a:ea typeface="Arial"/>
                <a:cs typeface="Arial"/>
              </a:defRPr>
            </a:lvl4pPr>
            <a:lvl5pPr>
              <a:defRPr sz="2700" b="1">
                <a:solidFill>
                  <a:srgbClr val="0B6B50"/>
                </a:solidFill>
                <a:latin typeface="Arial"/>
                <a:ea typeface="Arial"/>
                <a:cs typeface="Arial"/>
              </a:defRPr>
            </a:lvl5pPr>
            <a:lvl6pPr>
              <a:defRPr sz="2700" b="1">
                <a:solidFill>
                  <a:srgbClr val="0B6B50"/>
                </a:solidFill>
                <a:latin typeface="Arial"/>
                <a:ea typeface="Arial"/>
                <a:cs typeface="Arial"/>
              </a:defRPr>
            </a:lvl6pPr>
            <a:lvl7pPr>
              <a:defRPr sz="2700" b="1">
                <a:solidFill>
                  <a:srgbClr val="0B6B50"/>
                </a:solidFill>
                <a:latin typeface="Arial"/>
                <a:ea typeface="Arial"/>
                <a:cs typeface="Arial"/>
              </a:defRPr>
            </a:lvl7pPr>
            <a:lvl8pPr>
              <a:defRPr sz="2700" b="1">
                <a:solidFill>
                  <a:srgbClr val="0B6B50"/>
                </a:solidFill>
                <a:latin typeface="Arial"/>
                <a:ea typeface="Arial"/>
                <a:cs typeface="Arial"/>
              </a:defRPr>
            </a:lvl8pPr>
            <a:lvl9pPr>
              <a:defRPr sz="2700" b="1">
                <a:solidFill>
                  <a:srgbClr val="0B6B50"/>
                </a:solidFill>
                <a:latin typeface="Arial"/>
                <a:ea typeface="Arial"/>
                <a:cs typeface="Arial"/>
              </a:defRPr>
            </a:lvl9pPr>
          </a:lstStyle>
          <a:p xmlns:a="http://schemas.openxmlformats.org/drawingml/2006/main">
            <a:pPr>
              <a:defRPr sz="2700" b="1">
                <a:solidFill>
                  <a:srgbClr val="0B6B50"/>
                </a:solidFill>
                <a:latin typeface="Arial"/>
                <a:ea typeface="Arial"/>
                <a:cs typeface="Arial"/>
              </a:defRPr>
            </a:pPr>
            <a:r>
              <a:rPr sz="2700" b="1">
                <a:solidFill>
                  <a:srgbClr val="0B6B5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50CC8E1-B80D-4ADE-86F4-7C8D4511ADAF}"/>
              </a:ext>
            </a:extLst>
          </p:cNvPr>
          <p:cNvSpPr>
            <a:spLocks xmlns:a="http://schemas.openxmlformats.org/drawingml/2006/main" noGrp="1"/>
          </p:cNvSpPr>
          <p:nvPr/>
        </p:nvSpPr>
        <p:spPr>
          <a:xfrm xmlns:a="http://schemas.openxmlformats.org/drawingml/2006/main">
            <a:off x="1714500" y="2714625"/>
            <a:ext cx="966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82221"/>
                </a:solidFill>
                <a:latin typeface="Arial"/>
                <a:ea typeface="Arial"/>
                <a:cs typeface="Arial"/>
              </a:defRPr>
            </a:defPPr>
            <a:lvl1pPr>
              <a:defRPr sz="2400" b="0">
                <a:solidFill>
                  <a:srgbClr val="182221"/>
                </a:solidFill>
                <a:latin typeface="Arial"/>
                <a:ea typeface="Arial"/>
                <a:cs typeface="Arial"/>
              </a:defRPr>
            </a:lvl1pPr>
            <a:lvl2pPr>
              <a:defRPr sz="2400" b="0">
                <a:solidFill>
                  <a:srgbClr val="182221"/>
                </a:solidFill>
                <a:latin typeface="Arial"/>
                <a:ea typeface="Arial"/>
                <a:cs typeface="Arial"/>
              </a:defRPr>
            </a:lvl2pPr>
            <a:lvl3pPr>
              <a:defRPr sz="2400" b="0">
                <a:solidFill>
                  <a:srgbClr val="182221"/>
                </a:solidFill>
                <a:latin typeface="Arial"/>
                <a:ea typeface="Arial"/>
                <a:cs typeface="Arial"/>
              </a:defRPr>
            </a:lvl3pPr>
            <a:lvl4pPr>
              <a:defRPr sz="2400" b="0">
                <a:solidFill>
                  <a:srgbClr val="182221"/>
                </a:solidFill>
                <a:latin typeface="Arial"/>
                <a:ea typeface="Arial"/>
                <a:cs typeface="Arial"/>
              </a:defRPr>
            </a:lvl4pPr>
            <a:lvl5pPr>
              <a:defRPr sz="2400" b="0">
                <a:solidFill>
                  <a:srgbClr val="182221"/>
                </a:solidFill>
                <a:latin typeface="Arial"/>
                <a:ea typeface="Arial"/>
                <a:cs typeface="Arial"/>
              </a:defRPr>
            </a:lvl5pPr>
            <a:lvl6pPr>
              <a:defRPr sz="2400" b="0">
                <a:solidFill>
                  <a:srgbClr val="182221"/>
                </a:solidFill>
                <a:latin typeface="Arial"/>
                <a:ea typeface="Arial"/>
                <a:cs typeface="Arial"/>
              </a:defRPr>
            </a:lvl6pPr>
            <a:lvl7pPr>
              <a:defRPr sz="2400" b="0">
                <a:solidFill>
                  <a:srgbClr val="182221"/>
                </a:solidFill>
                <a:latin typeface="Arial"/>
                <a:ea typeface="Arial"/>
                <a:cs typeface="Arial"/>
              </a:defRPr>
            </a:lvl7pPr>
            <a:lvl8pPr>
              <a:defRPr sz="2400" b="0">
                <a:solidFill>
                  <a:srgbClr val="182221"/>
                </a:solidFill>
                <a:latin typeface="Arial"/>
                <a:ea typeface="Arial"/>
                <a:cs typeface="Arial"/>
              </a:defRPr>
            </a:lvl8pPr>
            <a:lvl9pPr>
              <a:defRPr sz="2400" b="0">
                <a:solidFill>
                  <a:srgbClr val="182221"/>
                </a:solidFill>
                <a:latin typeface="Arial"/>
                <a:ea typeface="Arial"/>
                <a:cs typeface="Arial"/>
              </a:defRPr>
            </a:lvl9pPr>
          </a:lstStyle>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The least expensive workflow that meets the bar</a:t>
            </a:r>
          </a:p>
        </p:txBody>
      </p:sp>
      <p:sp>
        <p:nvSpPr>
          <p:cNvPr id="6" name="">
            <a:extLst xmlns:a="http://schemas.openxmlformats.org/drawingml/2006/main">
              <a:ext uri="{FF2B5EF4-FFF2-40B4-BE49-F238E27FC236}">
                <a16:creationId xmlns:a16="http://schemas.microsoft.com/office/drawing/2014/main" id="{DE565C5A-28E7-4774-AAEB-E66C02E2BEE2}"/>
              </a:ext>
            </a:extLst>
          </p:cNvPr>
          <p:cNvSpPr>
            <a:spLocks xmlns:a="http://schemas.openxmlformats.org/drawingml/2006/main" noGrp="1"/>
          </p:cNvSpPr>
          <p:nvPr/>
        </p:nvSpPr>
        <p:spPr>
          <a:xfrm xmlns:a="http://schemas.openxmlformats.org/drawingml/2006/main">
            <a:off x="685800" y="36671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B6B50"/>
                </a:solidFill>
                <a:latin typeface="Arial"/>
                <a:ea typeface="Arial"/>
                <a:cs typeface="Arial"/>
              </a:defRPr>
            </a:defPPr>
            <a:lvl1pPr>
              <a:defRPr sz="2700" b="1">
                <a:solidFill>
                  <a:srgbClr val="0B6B50"/>
                </a:solidFill>
                <a:latin typeface="Arial"/>
                <a:ea typeface="Arial"/>
                <a:cs typeface="Arial"/>
              </a:defRPr>
            </a:lvl1pPr>
            <a:lvl2pPr>
              <a:defRPr sz="2700" b="1">
                <a:solidFill>
                  <a:srgbClr val="0B6B50"/>
                </a:solidFill>
                <a:latin typeface="Arial"/>
                <a:ea typeface="Arial"/>
                <a:cs typeface="Arial"/>
              </a:defRPr>
            </a:lvl2pPr>
            <a:lvl3pPr>
              <a:defRPr sz="2700" b="1">
                <a:solidFill>
                  <a:srgbClr val="0B6B50"/>
                </a:solidFill>
                <a:latin typeface="Arial"/>
                <a:ea typeface="Arial"/>
                <a:cs typeface="Arial"/>
              </a:defRPr>
            </a:lvl3pPr>
            <a:lvl4pPr>
              <a:defRPr sz="2700" b="1">
                <a:solidFill>
                  <a:srgbClr val="0B6B50"/>
                </a:solidFill>
                <a:latin typeface="Arial"/>
                <a:ea typeface="Arial"/>
                <a:cs typeface="Arial"/>
              </a:defRPr>
            </a:lvl4pPr>
            <a:lvl5pPr>
              <a:defRPr sz="2700" b="1">
                <a:solidFill>
                  <a:srgbClr val="0B6B50"/>
                </a:solidFill>
                <a:latin typeface="Arial"/>
                <a:ea typeface="Arial"/>
                <a:cs typeface="Arial"/>
              </a:defRPr>
            </a:lvl5pPr>
            <a:lvl6pPr>
              <a:defRPr sz="2700" b="1">
                <a:solidFill>
                  <a:srgbClr val="0B6B50"/>
                </a:solidFill>
                <a:latin typeface="Arial"/>
                <a:ea typeface="Arial"/>
                <a:cs typeface="Arial"/>
              </a:defRPr>
            </a:lvl6pPr>
            <a:lvl7pPr>
              <a:defRPr sz="2700" b="1">
                <a:solidFill>
                  <a:srgbClr val="0B6B50"/>
                </a:solidFill>
                <a:latin typeface="Arial"/>
                <a:ea typeface="Arial"/>
                <a:cs typeface="Arial"/>
              </a:defRPr>
            </a:lvl7pPr>
            <a:lvl8pPr>
              <a:defRPr sz="2700" b="1">
                <a:solidFill>
                  <a:srgbClr val="0B6B50"/>
                </a:solidFill>
                <a:latin typeface="Arial"/>
                <a:ea typeface="Arial"/>
                <a:cs typeface="Arial"/>
              </a:defRPr>
            </a:lvl8pPr>
            <a:lvl9pPr>
              <a:defRPr sz="2700" b="1">
                <a:solidFill>
                  <a:srgbClr val="0B6B50"/>
                </a:solidFill>
                <a:latin typeface="Arial"/>
                <a:ea typeface="Arial"/>
                <a:cs typeface="Arial"/>
              </a:defRPr>
            </a:lvl9pPr>
          </a:lstStyle>
          <a:p xmlns:a="http://schemas.openxmlformats.org/drawingml/2006/main">
            <a:pPr>
              <a:defRPr sz="2700" b="1">
                <a:solidFill>
                  <a:srgbClr val="0B6B50"/>
                </a:solidFill>
                <a:latin typeface="Arial"/>
                <a:ea typeface="Arial"/>
                <a:cs typeface="Arial"/>
              </a:defRPr>
            </a:pPr>
            <a:r>
              <a:rPr sz="2700" b="1">
                <a:solidFill>
                  <a:srgbClr val="0B6B50"/>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49096E2-2C9F-4417-9127-6B39DC009AAE}"/>
              </a:ext>
            </a:extLst>
          </p:cNvPr>
          <p:cNvSpPr>
            <a:spLocks xmlns:a="http://schemas.openxmlformats.org/drawingml/2006/main" noGrp="1"/>
          </p:cNvSpPr>
          <p:nvPr/>
        </p:nvSpPr>
        <p:spPr>
          <a:xfrm xmlns:a="http://schemas.openxmlformats.org/drawingml/2006/main">
            <a:off x="1714500" y="3667125"/>
            <a:ext cx="966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82221"/>
                </a:solidFill>
                <a:latin typeface="Arial"/>
                <a:ea typeface="Arial"/>
                <a:cs typeface="Arial"/>
              </a:defRPr>
            </a:defPPr>
            <a:lvl1pPr>
              <a:defRPr sz="2400" b="0">
                <a:solidFill>
                  <a:srgbClr val="182221"/>
                </a:solidFill>
                <a:latin typeface="Arial"/>
                <a:ea typeface="Arial"/>
                <a:cs typeface="Arial"/>
              </a:defRPr>
            </a:lvl1pPr>
            <a:lvl2pPr>
              <a:defRPr sz="2400" b="0">
                <a:solidFill>
                  <a:srgbClr val="182221"/>
                </a:solidFill>
                <a:latin typeface="Arial"/>
                <a:ea typeface="Arial"/>
                <a:cs typeface="Arial"/>
              </a:defRPr>
            </a:lvl2pPr>
            <a:lvl3pPr>
              <a:defRPr sz="2400" b="0">
                <a:solidFill>
                  <a:srgbClr val="182221"/>
                </a:solidFill>
                <a:latin typeface="Arial"/>
                <a:ea typeface="Arial"/>
                <a:cs typeface="Arial"/>
              </a:defRPr>
            </a:lvl3pPr>
            <a:lvl4pPr>
              <a:defRPr sz="2400" b="0">
                <a:solidFill>
                  <a:srgbClr val="182221"/>
                </a:solidFill>
                <a:latin typeface="Arial"/>
                <a:ea typeface="Arial"/>
                <a:cs typeface="Arial"/>
              </a:defRPr>
            </a:lvl4pPr>
            <a:lvl5pPr>
              <a:defRPr sz="2400" b="0">
                <a:solidFill>
                  <a:srgbClr val="182221"/>
                </a:solidFill>
                <a:latin typeface="Arial"/>
                <a:ea typeface="Arial"/>
                <a:cs typeface="Arial"/>
              </a:defRPr>
            </a:lvl5pPr>
            <a:lvl6pPr>
              <a:defRPr sz="2400" b="0">
                <a:solidFill>
                  <a:srgbClr val="182221"/>
                </a:solidFill>
                <a:latin typeface="Arial"/>
                <a:ea typeface="Arial"/>
                <a:cs typeface="Arial"/>
              </a:defRPr>
            </a:lvl6pPr>
            <a:lvl7pPr>
              <a:defRPr sz="2400" b="0">
                <a:solidFill>
                  <a:srgbClr val="182221"/>
                </a:solidFill>
                <a:latin typeface="Arial"/>
                <a:ea typeface="Arial"/>
                <a:cs typeface="Arial"/>
              </a:defRPr>
            </a:lvl7pPr>
            <a:lvl8pPr>
              <a:defRPr sz="2400" b="0">
                <a:solidFill>
                  <a:srgbClr val="182221"/>
                </a:solidFill>
                <a:latin typeface="Arial"/>
                <a:ea typeface="Arial"/>
                <a:cs typeface="Arial"/>
              </a:defRPr>
            </a:lvl8pPr>
            <a:lvl9pPr>
              <a:defRPr sz="2400" b="0">
                <a:solidFill>
                  <a:srgbClr val="182221"/>
                </a:solidFill>
                <a:latin typeface="Arial"/>
                <a:ea typeface="Arial"/>
                <a:cs typeface="Arial"/>
              </a:defRPr>
            </a:lvl9pPr>
          </a:lstStyle>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The full cost of each experiment is visible</a:t>
            </a:r>
          </a:p>
        </p:txBody>
      </p:sp>
      <p:sp>
        <p:nvSpPr>
          <p:cNvPr id="8" name="">
            <a:extLst xmlns:a="http://schemas.openxmlformats.org/drawingml/2006/main">
              <a:ext uri="{FF2B5EF4-FFF2-40B4-BE49-F238E27FC236}">
                <a16:creationId xmlns:a16="http://schemas.microsoft.com/office/drawing/2014/main" id="{4DE1067A-84A1-458C-9419-EE1E1308446C}"/>
              </a:ext>
            </a:extLst>
          </p:cNvPr>
          <p:cNvSpPr>
            <a:spLocks xmlns:a="http://schemas.openxmlformats.org/drawingml/2006/main" noGrp="1"/>
          </p:cNvSpPr>
          <p:nvPr/>
        </p:nvSpPr>
        <p:spPr>
          <a:xfrm xmlns:a="http://schemas.openxmlformats.org/drawingml/2006/main">
            <a:off x="685800" y="4619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B6B50"/>
                </a:solidFill>
                <a:latin typeface="Arial"/>
                <a:ea typeface="Arial"/>
                <a:cs typeface="Arial"/>
              </a:defRPr>
            </a:defPPr>
            <a:lvl1pPr>
              <a:defRPr sz="2700" b="1">
                <a:solidFill>
                  <a:srgbClr val="0B6B50"/>
                </a:solidFill>
                <a:latin typeface="Arial"/>
                <a:ea typeface="Arial"/>
                <a:cs typeface="Arial"/>
              </a:defRPr>
            </a:lvl1pPr>
            <a:lvl2pPr>
              <a:defRPr sz="2700" b="1">
                <a:solidFill>
                  <a:srgbClr val="0B6B50"/>
                </a:solidFill>
                <a:latin typeface="Arial"/>
                <a:ea typeface="Arial"/>
                <a:cs typeface="Arial"/>
              </a:defRPr>
            </a:lvl2pPr>
            <a:lvl3pPr>
              <a:defRPr sz="2700" b="1">
                <a:solidFill>
                  <a:srgbClr val="0B6B50"/>
                </a:solidFill>
                <a:latin typeface="Arial"/>
                <a:ea typeface="Arial"/>
                <a:cs typeface="Arial"/>
              </a:defRPr>
            </a:lvl3pPr>
            <a:lvl4pPr>
              <a:defRPr sz="2700" b="1">
                <a:solidFill>
                  <a:srgbClr val="0B6B50"/>
                </a:solidFill>
                <a:latin typeface="Arial"/>
                <a:ea typeface="Arial"/>
                <a:cs typeface="Arial"/>
              </a:defRPr>
            </a:lvl4pPr>
            <a:lvl5pPr>
              <a:defRPr sz="2700" b="1">
                <a:solidFill>
                  <a:srgbClr val="0B6B50"/>
                </a:solidFill>
                <a:latin typeface="Arial"/>
                <a:ea typeface="Arial"/>
                <a:cs typeface="Arial"/>
              </a:defRPr>
            </a:lvl5pPr>
            <a:lvl6pPr>
              <a:defRPr sz="2700" b="1">
                <a:solidFill>
                  <a:srgbClr val="0B6B50"/>
                </a:solidFill>
                <a:latin typeface="Arial"/>
                <a:ea typeface="Arial"/>
                <a:cs typeface="Arial"/>
              </a:defRPr>
            </a:lvl6pPr>
            <a:lvl7pPr>
              <a:defRPr sz="2700" b="1">
                <a:solidFill>
                  <a:srgbClr val="0B6B50"/>
                </a:solidFill>
                <a:latin typeface="Arial"/>
                <a:ea typeface="Arial"/>
                <a:cs typeface="Arial"/>
              </a:defRPr>
            </a:lvl7pPr>
            <a:lvl8pPr>
              <a:defRPr sz="2700" b="1">
                <a:solidFill>
                  <a:srgbClr val="0B6B50"/>
                </a:solidFill>
                <a:latin typeface="Arial"/>
                <a:ea typeface="Arial"/>
                <a:cs typeface="Arial"/>
              </a:defRPr>
            </a:lvl8pPr>
            <a:lvl9pPr>
              <a:defRPr sz="2700" b="1">
                <a:solidFill>
                  <a:srgbClr val="0B6B50"/>
                </a:solidFill>
                <a:latin typeface="Arial"/>
                <a:ea typeface="Arial"/>
                <a:cs typeface="Arial"/>
              </a:defRPr>
            </a:lvl9pPr>
          </a:lstStyle>
          <a:p xmlns:a="http://schemas.openxmlformats.org/drawingml/2006/main">
            <a:pPr>
              <a:defRPr sz="2700" b="1">
                <a:solidFill>
                  <a:srgbClr val="0B6B50"/>
                </a:solidFill>
                <a:latin typeface="Arial"/>
                <a:ea typeface="Arial"/>
                <a:cs typeface="Arial"/>
              </a:defRPr>
            </a:pPr>
            <a:r>
              <a:rPr sz="2700" b="1">
                <a:solidFill>
                  <a:srgbClr val="0B6B50"/>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0B875C3C-63EB-4E34-849E-F841EA5CCE50}"/>
              </a:ext>
            </a:extLst>
          </p:cNvPr>
          <p:cNvSpPr>
            <a:spLocks xmlns:a="http://schemas.openxmlformats.org/drawingml/2006/main" noGrp="1"/>
          </p:cNvSpPr>
          <p:nvPr/>
        </p:nvSpPr>
        <p:spPr>
          <a:xfrm xmlns:a="http://schemas.openxmlformats.org/drawingml/2006/main">
            <a:off x="1714500" y="4619625"/>
            <a:ext cx="966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82221"/>
                </a:solidFill>
                <a:latin typeface="Arial"/>
                <a:ea typeface="Arial"/>
                <a:cs typeface="Arial"/>
              </a:defRPr>
            </a:defPPr>
            <a:lvl1pPr>
              <a:defRPr sz="2400" b="0">
                <a:solidFill>
                  <a:srgbClr val="182221"/>
                </a:solidFill>
                <a:latin typeface="Arial"/>
                <a:ea typeface="Arial"/>
                <a:cs typeface="Arial"/>
              </a:defRPr>
            </a:lvl1pPr>
            <a:lvl2pPr>
              <a:defRPr sz="2400" b="0">
                <a:solidFill>
                  <a:srgbClr val="182221"/>
                </a:solidFill>
                <a:latin typeface="Arial"/>
                <a:ea typeface="Arial"/>
                <a:cs typeface="Arial"/>
              </a:defRPr>
            </a:lvl2pPr>
            <a:lvl3pPr>
              <a:defRPr sz="2400" b="0">
                <a:solidFill>
                  <a:srgbClr val="182221"/>
                </a:solidFill>
                <a:latin typeface="Arial"/>
                <a:ea typeface="Arial"/>
                <a:cs typeface="Arial"/>
              </a:defRPr>
            </a:lvl3pPr>
            <a:lvl4pPr>
              <a:defRPr sz="2400" b="0">
                <a:solidFill>
                  <a:srgbClr val="182221"/>
                </a:solidFill>
                <a:latin typeface="Arial"/>
                <a:ea typeface="Arial"/>
                <a:cs typeface="Arial"/>
              </a:defRPr>
            </a:lvl4pPr>
            <a:lvl5pPr>
              <a:defRPr sz="2400" b="0">
                <a:solidFill>
                  <a:srgbClr val="182221"/>
                </a:solidFill>
                <a:latin typeface="Arial"/>
                <a:ea typeface="Arial"/>
                <a:cs typeface="Arial"/>
              </a:defRPr>
            </a:lvl5pPr>
            <a:lvl6pPr>
              <a:defRPr sz="2400" b="0">
                <a:solidFill>
                  <a:srgbClr val="182221"/>
                </a:solidFill>
                <a:latin typeface="Arial"/>
                <a:ea typeface="Arial"/>
                <a:cs typeface="Arial"/>
              </a:defRPr>
            </a:lvl6pPr>
            <a:lvl7pPr>
              <a:defRPr sz="2400" b="0">
                <a:solidFill>
                  <a:srgbClr val="182221"/>
                </a:solidFill>
                <a:latin typeface="Arial"/>
                <a:ea typeface="Arial"/>
                <a:cs typeface="Arial"/>
              </a:defRPr>
            </a:lvl7pPr>
            <a:lvl8pPr>
              <a:defRPr sz="2400" b="0">
                <a:solidFill>
                  <a:srgbClr val="182221"/>
                </a:solidFill>
                <a:latin typeface="Arial"/>
                <a:ea typeface="Arial"/>
                <a:cs typeface="Arial"/>
              </a:defRPr>
            </a:lvl8pPr>
            <a:lvl9pPr>
              <a:defRPr sz="2400" b="0">
                <a:solidFill>
                  <a:srgbClr val="182221"/>
                </a:solidFill>
                <a:latin typeface="Arial"/>
                <a:ea typeface="Arial"/>
                <a:cs typeface="Arial"/>
              </a:defRPr>
            </a:lvl9pPr>
          </a:lstStyle>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A limited rollout checks whether people want it</a:t>
            </a:r>
          </a:p>
        </p:txBody>
      </p:sp>
      <p:sp>
        <p:nvSpPr>
          <p:cNvPr id="10" name="">
            <a:extLst xmlns:a="http://schemas.openxmlformats.org/drawingml/2006/main">
              <a:ext uri="{FF2B5EF4-FFF2-40B4-BE49-F238E27FC236}">
                <a16:creationId xmlns:a16="http://schemas.microsoft.com/office/drawing/2014/main" id="{DB989C30-E63D-417D-AC34-DC4EF68E87A0}"/>
              </a:ext>
            </a:extLst>
          </p:cNvPr>
          <p:cNvSpPr>
            <a:spLocks xmlns:a="http://schemas.openxmlformats.org/drawingml/2006/main" noGrp="1"/>
          </p:cNvSpPr>
          <p:nvPr/>
        </p:nvSpPr>
        <p:spPr>
          <a:xfrm xmlns:a="http://schemas.openxmlformats.org/drawingml/2006/main">
            <a:off x="685800" y="604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59635E"/>
                </a:solidFill>
                <a:latin typeface="Arial"/>
                <a:ea typeface="Arial"/>
                <a:cs typeface="Arial"/>
              </a:defRPr>
            </a:defPPr>
            <a:lvl1pPr>
              <a:defRPr sz="1725" b="1">
                <a:solidFill>
                  <a:srgbClr val="59635E"/>
                </a:solidFill>
                <a:latin typeface="Arial"/>
                <a:ea typeface="Arial"/>
                <a:cs typeface="Arial"/>
              </a:defRPr>
            </a:lvl1pPr>
            <a:lvl2pPr>
              <a:defRPr sz="1725" b="1">
                <a:solidFill>
                  <a:srgbClr val="59635E"/>
                </a:solidFill>
                <a:latin typeface="Arial"/>
                <a:ea typeface="Arial"/>
                <a:cs typeface="Arial"/>
              </a:defRPr>
            </a:lvl2pPr>
            <a:lvl3pPr>
              <a:defRPr sz="1725" b="1">
                <a:solidFill>
                  <a:srgbClr val="59635E"/>
                </a:solidFill>
                <a:latin typeface="Arial"/>
                <a:ea typeface="Arial"/>
                <a:cs typeface="Arial"/>
              </a:defRPr>
            </a:lvl3pPr>
            <a:lvl4pPr>
              <a:defRPr sz="1725" b="1">
                <a:solidFill>
                  <a:srgbClr val="59635E"/>
                </a:solidFill>
                <a:latin typeface="Arial"/>
                <a:ea typeface="Arial"/>
                <a:cs typeface="Arial"/>
              </a:defRPr>
            </a:lvl4pPr>
            <a:lvl5pPr>
              <a:defRPr sz="1725" b="1">
                <a:solidFill>
                  <a:srgbClr val="59635E"/>
                </a:solidFill>
                <a:latin typeface="Arial"/>
                <a:ea typeface="Arial"/>
                <a:cs typeface="Arial"/>
              </a:defRPr>
            </a:lvl5pPr>
            <a:lvl6pPr>
              <a:defRPr sz="1725" b="1">
                <a:solidFill>
                  <a:srgbClr val="59635E"/>
                </a:solidFill>
                <a:latin typeface="Arial"/>
                <a:ea typeface="Arial"/>
                <a:cs typeface="Arial"/>
              </a:defRPr>
            </a:lvl6pPr>
            <a:lvl7pPr>
              <a:defRPr sz="1725" b="1">
                <a:solidFill>
                  <a:srgbClr val="59635E"/>
                </a:solidFill>
                <a:latin typeface="Arial"/>
                <a:ea typeface="Arial"/>
                <a:cs typeface="Arial"/>
              </a:defRPr>
            </a:lvl7pPr>
            <a:lvl8pPr>
              <a:defRPr sz="1725" b="1">
                <a:solidFill>
                  <a:srgbClr val="59635E"/>
                </a:solidFill>
                <a:latin typeface="Arial"/>
                <a:ea typeface="Arial"/>
                <a:cs typeface="Arial"/>
              </a:defRPr>
            </a:lvl8pPr>
            <a:lvl9pPr>
              <a:defRPr sz="1725" b="1">
                <a:solidFill>
                  <a:srgbClr val="59635E"/>
                </a:solidFill>
                <a:latin typeface="Arial"/>
                <a:ea typeface="Arial"/>
                <a:cs typeface="Arial"/>
              </a:defRPr>
            </a:lvl9pPr>
          </a:lstStyle>
          <a:p xmlns:a="http://schemas.openxmlformats.org/drawingml/2006/main">
            <a:pPr>
              <a:defRPr sz="1725" b="1">
                <a:solidFill>
                  <a:srgbClr val="59635E"/>
                </a:solidFill>
                <a:latin typeface="Arial"/>
                <a:ea typeface="Arial"/>
                <a:cs typeface="Arial"/>
              </a:defRPr>
            </a:pPr>
            <a:r>
              <a:rPr sz="1725" b="1">
                <a:solidFill>
                  <a:srgbClr val="59635E"/>
                </a:solidFill>
                <a:latin typeface="Arial"/>
                <a:ea typeface="Arial"/>
                <a:cs typeface="Arial"/>
              </a:rPr>
              <a:t>TARGET · These are product goals, not claimed measured results.</a:t>
            </a:r>
          </a:p>
        </p:txBody>
      </p:sp>
    </p:spTree>
    <p:extLst>
      <p:ext uri="{BB962C8B-B14F-4D97-AF65-F5344CB8AC3E}">
        <p14:creationId xmlns:p14="http://schemas.microsoft.com/office/powerpoint/2010/main" val="624180393"/>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B11379-BD22-4802-AB08-A18396CD96F5}"/>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Improve the process, then test the next version</a:t>
            </a:r>
          </a:p>
        </p:txBody>
      </p:sp>
      <p:sp>
        <p:nvSpPr>
          <p:cNvPr id="2" name="">
            <a:extLst xmlns:a="http://schemas.openxmlformats.org/drawingml/2006/main">
              <a:ext uri="{FF2B5EF4-FFF2-40B4-BE49-F238E27FC236}">
                <a16:creationId xmlns:a16="http://schemas.microsoft.com/office/drawing/2014/main" id="{CC782598-93FE-4460-B138-7C22C3494B3D}"/>
              </a:ext>
            </a:extLst>
          </p:cNvPr>
          <p:cNvSpPr>
            <a:spLocks xmlns:a="http://schemas.openxmlformats.org/drawingml/2006/main" noGrp="1"/>
          </p:cNvSpPr>
          <p:nvPr/>
        </p:nvSpPr>
        <p:spPr>
          <a:xfrm xmlns:a="http://schemas.openxmlformats.org/drawingml/2006/main">
            <a:off x="685800" y="18573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B6B50"/>
                </a:solidFill>
                <a:latin typeface="Arial"/>
                <a:ea typeface="Arial"/>
                <a:cs typeface="Arial"/>
              </a:defRPr>
            </a:defPPr>
            <a:lvl1pPr>
              <a:defRPr sz="2925" b="1">
                <a:solidFill>
                  <a:srgbClr val="0B6B50"/>
                </a:solidFill>
                <a:latin typeface="Arial"/>
                <a:ea typeface="Arial"/>
                <a:cs typeface="Arial"/>
              </a:defRPr>
            </a:lvl1pPr>
            <a:lvl2pPr>
              <a:defRPr sz="2925" b="1">
                <a:solidFill>
                  <a:srgbClr val="0B6B50"/>
                </a:solidFill>
                <a:latin typeface="Arial"/>
                <a:ea typeface="Arial"/>
                <a:cs typeface="Arial"/>
              </a:defRPr>
            </a:lvl2pPr>
            <a:lvl3pPr>
              <a:defRPr sz="2925" b="1">
                <a:solidFill>
                  <a:srgbClr val="0B6B50"/>
                </a:solidFill>
                <a:latin typeface="Arial"/>
                <a:ea typeface="Arial"/>
                <a:cs typeface="Arial"/>
              </a:defRPr>
            </a:lvl3pPr>
            <a:lvl4pPr>
              <a:defRPr sz="2925" b="1">
                <a:solidFill>
                  <a:srgbClr val="0B6B50"/>
                </a:solidFill>
                <a:latin typeface="Arial"/>
                <a:ea typeface="Arial"/>
                <a:cs typeface="Arial"/>
              </a:defRPr>
            </a:lvl4pPr>
            <a:lvl5pPr>
              <a:defRPr sz="2925" b="1">
                <a:solidFill>
                  <a:srgbClr val="0B6B50"/>
                </a:solidFill>
                <a:latin typeface="Arial"/>
                <a:ea typeface="Arial"/>
                <a:cs typeface="Arial"/>
              </a:defRPr>
            </a:lvl5pPr>
            <a:lvl6pPr>
              <a:defRPr sz="2925" b="1">
                <a:solidFill>
                  <a:srgbClr val="0B6B50"/>
                </a:solidFill>
                <a:latin typeface="Arial"/>
                <a:ea typeface="Arial"/>
                <a:cs typeface="Arial"/>
              </a:defRPr>
            </a:lvl6pPr>
            <a:lvl7pPr>
              <a:defRPr sz="2925" b="1">
                <a:solidFill>
                  <a:srgbClr val="0B6B50"/>
                </a:solidFill>
                <a:latin typeface="Arial"/>
                <a:ea typeface="Arial"/>
                <a:cs typeface="Arial"/>
              </a:defRPr>
            </a:lvl7pPr>
            <a:lvl8pPr>
              <a:defRPr sz="2925" b="1">
                <a:solidFill>
                  <a:srgbClr val="0B6B50"/>
                </a:solidFill>
                <a:latin typeface="Arial"/>
                <a:ea typeface="Arial"/>
                <a:cs typeface="Arial"/>
              </a:defRPr>
            </a:lvl8pPr>
            <a:lvl9pPr>
              <a:defRPr sz="2925" b="1">
                <a:solidFill>
                  <a:srgbClr val="0B6B50"/>
                </a:solidFill>
                <a:latin typeface="Arial"/>
                <a:ea typeface="Arial"/>
                <a:cs typeface="Arial"/>
              </a:defRPr>
            </a:lvl9pPr>
          </a:lstStyle>
          <a:p xmlns:a="http://schemas.openxmlformats.org/drawingml/2006/main">
            <a:pPr>
              <a:defRPr sz="2925" b="1">
                <a:solidFill>
                  <a:srgbClr val="0B6B50"/>
                </a:solidFill>
                <a:latin typeface="Arial"/>
                <a:ea typeface="Arial"/>
                <a:cs typeface="Arial"/>
              </a:defRPr>
            </a:pPr>
            <a:r>
              <a:rPr sz="2925" b="1">
                <a:solidFill>
                  <a:srgbClr val="0B6B50"/>
                </a:solidFill>
                <a:latin typeface="Arial"/>
                <a:ea typeface="Arial"/>
                <a:cs typeface="Arial"/>
              </a:rPr>
              <a:t>Search a workflow  →  measure quality + effort</a:t>
            </a:r>
          </a:p>
        </p:txBody>
      </p:sp>
      <p:sp>
        <p:nvSpPr>
          <p:cNvPr id="3" name="">
            <a:extLst xmlns:a="http://schemas.openxmlformats.org/drawingml/2006/main">
              <a:ext uri="{FF2B5EF4-FFF2-40B4-BE49-F238E27FC236}">
                <a16:creationId xmlns:a16="http://schemas.microsoft.com/office/drawing/2014/main" id="{8AE8EDBF-FE0D-4FD7-87C2-67F5CBCAA15D}"/>
              </a:ext>
            </a:extLst>
          </p:cNvPr>
          <p:cNvSpPr>
            <a:spLocks xmlns:a="http://schemas.openxmlformats.org/drawingml/2006/main" noGrp="1"/>
          </p:cNvSpPr>
          <p:nvPr/>
        </p:nvSpPr>
        <p:spPr>
          <a:xfrm xmlns:a="http://schemas.openxmlformats.org/drawingml/2006/main">
            <a:off x="685800" y="2952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182221"/>
                </a:solidFill>
                <a:latin typeface="Arial"/>
                <a:ea typeface="Arial"/>
                <a:cs typeface="Arial"/>
              </a:defRPr>
            </a:defPPr>
            <a:lvl1pPr>
              <a:defRPr sz="2925" b="1">
                <a:solidFill>
                  <a:srgbClr val="182221"/>
                </a:solidFill>
                <a:latin typeface="Arial"/>
                <a:ea typeface="Arial"/>
                <a:cs typeface="Arial"/>
              </a:defRPr>
            </a:lvl1pPr>
            <a:lvl2pPr>
              <a:defRPr sz="2925" b="1">
                <a:solidFill>
                  <a:srgbClr val="182221"/>
                </a:solidFill>
                <a:latin typeface="Arial"/>
                <a:ea typeface="Arial"/>
                <a:cs typeface="Arial"/>
              </a:defRPr>
            </a:lvl2pPr>
            <a:lvl3pPr>
              <a:defRPr sz="2925" b="1">
                <a:solidFill>
                  <a:srgbClr val="182221"/>
                </a:solidFill>
                <a:latin typeface="Arial"/>
                <a:ea typeface="Arial"/>
                <a:cs typeface="Arial"/>
              </a:defRPr>
            </a:lvl3pPr>
            <a:lvl4pPr>
              <a:defRPr sz="2925" b="1">
                <a:solidFill>
                  <a:srgbClr val="182221"/>
                </a:solidFill>
                <a:latin typeface="Arial"/>
                <a:ea typeface="Arial"/>
                <a:cs typeface="Arial"/>
              </a:defRPr>
            </a:lvl4pPr>
            <a:lvl5pPr>
              <a:defRPr sz="2925" b="1">
                <a:solidFill>
                  <a:srgbClr val="182221"/>
                </a:solidFill>
                <a:latin typeface="Arial"/>
                <a:ea typeface="Arial"/>
                <a:cs typeface="Arial"/>
              </a:defRPr>
            </a:lvl5pPr>
            <a:lvl6pPr>
              <a:defRPr sz="2925" b="1">
                <a:solidFill>
                  <a:srgbClr val="182221"/>
                </a:solidFill>
                <a:latin typeface="Arial"/>
                <a:ea typeface="Arial"/>
                <a:cs typeface="Arial"/>
              </a:defRPr>
            </a:lvl6pPr>
            <a:lvl7pPr>
              <a:defRPr sz="2925" b="1">
                <a:solidFill>
                  <a:srgbClr val="182221"/>
                </a:solidFill>
                <a:latin typeface="Arial"/>
                <a:ea typeface="Arial"/>
                <a:cs typeface="Arial"/>
              </a:defRPr>
            </a:lvl7pPr>
            <a:lvl8pPr>
              <a:defRPr sz="2925" b="1">
                <a:solidFill>
                  <a:srgbClr val="182221"/>
                </a:solidFill>
                <a:latin typeface="Arial"/>
                <a:ea typeface="Arial"/>
                <a:cs typeface="Arial"/>
              </a:defRPr>
            </a:lvl8pPr>
            <a:lvl9pPr>
              <a:defRPr sz="2925" b="1">
                <a:solidFill>
                  <a:srgbClr val="182221"/>
                </a:solidFill>
                <a:latin typeface="Arial"/>
                <a:ea typeface="Arial"/>
                <a:cs typeface="Arial"/>
              </a:defRPr>
            </a:lvl9pPr>
          </a:lstStyle>
          <a:p xmlns:a="http://schemas.openxmlformats.org/drawingml/2006/main">
            <a:pPr>
              <a:defRPr sz="2925" b="1">
                <a:solidFill>
                  <a:srgbClr val="182221"/>
                </a:solidFill>
                <a:latin typeface="Arial"/>
                <a:ea typeface="Arial"/>
                <a:cs typeface="Arial"/>
              </a:defRPr>
            </a:pPr>
            <a:r>
              <a:rPr sz="2925" b="1">
                <a:solidFill>
                  <a:srgbClr val="182221"/>
                </a:solidFill>
                <a:latin typeface="Arial"/>
                <a:ea typeface="Arial"/>
                <a:cs typeface="Arial"/>
              </a:rPr>
              <a:t>Keep verified examples  →  train a student</a:t>
            </a:r>
          </a:p>
        </p:txBody>
      </p:sp>
      <p:sp>
        <p:nvSpPr>
          <p:cNvPr id="4" name="">
            <a:extLst xmlns:a="http://schemas.openxmlformats.org/drawingml/2006/main">
              <a:ext uri="{FF2B5EF4-FFF2-40B4-BE49-F238E27FC236}">
                <a16:creationId xmlns:a16="http://schemas.microsoft.com/office/drawing/2014/main" id="{EF126525-0E8F-4521-8CF9-88664887D7B5}"/>
              </a:ext>
            </a:extLst>
          </p:cNvPr>
          <p:cNvSpPr>
            <a:spLocks xmlns:a="http://schemas.openxmlformats.org/drawingml/2006/main" noGrp="1"/>
          </p:cNvSpPr>
          <p:nvPr/>
        </p:nvSpPr>
        <p:spPr>
          <a:xfrm xmlns:a="http://schemas.openxmlformats.org/drawingml/2006/main">
            <a:off x="685800" y="40481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182221"/>
                </a:solidFill>
                <a:latin typeface="Arial"/>
                <a:ea typeface="Arial"/>
                <a:cs typeface="Arial"/>
              </a:defRPr>
            </a:defPPr>
            <a:lvl1pPr>
              <a:defRPr sz="2925" b="1">
                <a:solidFill>
                  <a:srgbClr val="182221"/>
                </a:solidFill>
                <a:latin typeface="Arial"/>
                <a:ea typeface="Arial"/>
                <a:cs typeface="Arial"/>
              </a:defRPr>
            </a:lvl1pPr>
            <a:lvl2pPr>
              <a:defRPr sz="2925" b="1">
                <a:solidFill>
                  <a:srgbClr val="182221"/>
                </a:solidFill>
                <a:latin typeface="Arial"/>
                <a:ea typeface="Arial"/>
                <a:cs typeface="Arial"/>
              </a:defRPr>
            </a:lvl2pPr>
            <a:lvl3pPr>
              <a:defRPr sz="2925" b="1">
                <a:solidFill>
                  <a:srgbClr val="182221"/>
                </a:solidFill>
                <a:latin typeface="Arial"/>
                <a:ea typeface="Arial"/>
                <a:cs typeface="Arial"/>
              </a:defRPr>
            </a:lvl3pPr>
            <a:lvl4pPr>
              <a:defRPr sz="2925" b="1">
                <a:solidFill>
                  <a:srgbClr val="182221"/>
                </a:solidFill>
                <a:latin typeface="Arial"/>
                <a:ea typeface="Arial"/>
                <a:cs typeface="Arial"/>
              </a:defRPr>
            </a:lvl4pPr>
            <a:lvl5pPr>
              <a:defRPr sz="2925" b="1">
                <a:solidFill>
                  <a:srgbClr val="182221"/>
                </a:solidFill>
                <a:latin typeface="Arial"/>
                <a:ea typeface="Arial"/>
                <a:cs typeface="Arial"/>
              </a:defRPr>
            </a:lvl5pPr>
            <a:lvl6pPr>
              <a:defRPr sz="2925" b="1">
                <a:solidFill>
                  <a:srgbClr val="182221"/>
                </a:solidFill>
                <a:latin typeface="Arial"/>
                <a:ea typeface="Arial"/>
                <a:cs typeface="Arial"/>
              </a:defRPr>
            </a:lvl6pPr>
            <a:lvl7pPr>
              <a:defRPr sz="2925" b="1">
                <a:solidFill>
                  <a:srgbClr val="182221"/>
                </a:solidFill>
                <a:latin typeface="Arial"/>
                <a:ea typeface="Arial"/>
                <a:cs typeface="Arial"/>
              </a:defRPr>
            </a:lvl7pPr>
            <a:lvl8pPr>
              <a:defRPr sz="2925" b="1">
                <a:solidFill>
                  <a:srgbClr val="182221"/>
                </a:solidFill>
                <a:latin typeface="Arial"/>
                <a:ea typeface="Arial"/>
                <a:cs typeface="Arial"/>
              </a:defRPr>
            </a:lvl8pPr>
            <a:lvl9pPr>
              <a:defRPr sz="2925" b="1">
                <a:solidFill>
                  <a:srgbClr val="182221"/>
                </a:solidFill>
                <a:latin typeface="Arial"/>
                <a:ea typeface="Arial"/>
                <a:cs typeface="Arial"/>
              </a:defRPr>
            </a:lvl9pPr>
          </a:lstStyle>
          <a:p xmlns:a="http://schemas.openxmlformats.org/drawingml/2006/main">
            <a:pPr>
              <a:defRPr sz="2925" b="1">
                <a:solidFill>
                  <a:srgbClr val="182221"/>
                </a:solidFill>
                <a:latin typeface="Arial"/>
                <a:ea typeface="Arial"/>
                <a:cs typeface="Arial"/>
              </a:defRPr>
            </a:pPr>
            <a:r>
              <a:rPr sz="2925" b="1">
                <a:solidFill>
                  <a:srgbClr val="182221"/>
                </a:solidFill>
                <a:latin typeface="Arial"/>
                <a:ea typeface="Arial"/>
                <a:cs typeface="Arial"/>
              </a:rPr>
              <a:t>Evaluate the next version  →  repeat</a:t>
            </a:r>
          </a:p>
        </p:txBody>
      </p:sp>
      <p:sp>
        <p:nvSpPr>
          <p:cNvPr id="5" name="">
            <a:extLst xmlns:a="http://schemas.openxmlformats.org/drawingml/2006/main">
              <a:ext uri="{FF2B5EF4-FFF2-40B4-BE49-F238E27FC236}">
                <a16:creationId xmlns:a16="http://schemas.microsoft.com/office/drawing/2014/main" id="{32E1E3A7-8D93-40FD-BB05-E2CA4FB8C6EF}"/>
              </a:ext>
            </a:extLst>
          </p:cNvPr>
          <p:cNvSpPr>
            <a:spLocks xmlns:a="http://schemas.openxmlformats.org/drawingml/2006/main" noGrp="1"/>
          </p:cNvSpPr>
          <p:nvPr/>
        </p:nvSpPr>
        <p:spPr>
          <a:xfrm xmlns:a="http://schemas.openxmlformats.org/drawingml/2006/main">
            <a:off x="685800" y="5286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82221"/>
                </a:solidFill>
                <a:latin typeface="Arial"/>
                <a:ea typeface="Arial"/>
                <a:cs typeface="Arial"/>
              </a:defRPr>
            </a:defPPr>
            <a:lvl1pPr>
              <a:defRPr sz="2175" b="0">
                <a:solidFill>
                  <a:srgbClr val="182221"/>
                </a:solidFill>
                <a:latin typeface="Arial"/>
                <a:ea typeface="Arial"/>
                <a:cs typeface="Arial"/>
              </a:defRPr>
            </a:lvl1pPr>
            <a:lvl2pPr>
              <a:defRPr sz="2175" b="0">
                <a:solidFill>
                  <a:srgbClr val="182221"/>
                </a:solidFill>
                <a:latin typeface="Arial"/>
                <a:ea typeface="Arial"/>
                <a:cs typeface="Arial"/>
              </a:defRPr>
            </a:lvl2pPr>
            <a:lvl3pPr>
              <a:defRPr sz="2175" b="0">
                <a:solidFill>
                  <a:srgbClr val="182221"/>
                </a:solidFill>
                <a:latin typeface="Arial"/>
                <a:ea typeface="Arial"/>
                <a:cs typeface="Arial"/>
              </a:defRPr>
            </a:lvl3pPr>
            <a:lvl4pPr>
              <a:defRPr sz="2175" b="0">
                <a:solidFill>
                  <a:srgbClr val="182221"/>
                </a:solidFill>
                <a:latin typeface="Arial"/>
                <a:ea typeface="Arial"/>
                <a:cs typeface="Arial"/>
              </a:defRPr>
            </a:lvl4pPr>
            <a:lvl5pPr>
              <a:defRPr sz="2175" b="0">
                <a:solidFill>
                  <a:srgbClr val="182221"/>
                </a:solidFill>
                <a:latin typeface="Arial"/>
                <a:ea typeface="Arial"/>
                <a:cs typeface="Arial"/>
              </a:defRPr>
            </a:lvl5pPr>
            <a:lvl6pPr>
              <a:defRPr sz="2175" b="0">
                <a:solidFill>
                  <a:srgbClr val="182221"/>
                </a:solidFill>
                <a:latin typeface="Arial"/>
                <a:ea typeface="Arial"/>
                <a:cs typeface="Arial"/>
              </a:defRPr>
            </a:lvl6pPr>
            <a:lvl7pPr>
              <a:defRPr sz="2175" b="0">
                <a:solidFill>
                  <a:srgbClr val="182221"/>
                </a:solidFill>
                <a:latin typeface="Arial"/>
                <a:ea typeface="Arial"/>
                <a:cs typeface="Arial"/>
              </a:defRPr>
            </a:lvl7pPr>
            <a:lvl8pPr>
              <a:defRPr sz="2175" b="0">
                <a:solidFill>
                  <a:srgbClr val="182221"/>
                </a:solidFill>
                <a:latin typeface="Arial"/>
                <a:ea typeface="Arial"/>
                <a:cs typeface="Arial"/>
              </a:defRPr>
            </a:lvl8pPr>
            <a:lvl9pPr>
              <a:defRPr sz="2175" b="0">
                <a:solidFill>
                  <a:srgbClr val="182221"/>
                </a:solidFill>
                <a:latin typeface="Arial"/>
                <a:ea typeface="Arial"/>
                <a:cs typeface="Arial"/>
              </a:defRPr>
            </a:lvl9pPr>
          </a:lstStyle>
          <a:p xmlns:a="http://schemas.openxmlformats.org/drawingml/2006/main">
            <a:pPr>
              <a:defRPr sz="2175" b="0">
                <a:solidFill>
                  <a:srgbClr val="182221"/>
                </a:solidFill>
                <a:latin typeface="Arial"/>
                <a:ea typeface="Arial"/>
                <a:cs typeface="Arial"/>
              </a:defRPr>
            </a:pPr>
            <a:r>
              <a:rPr sz="2175" b="0">
                <a:solidFill>
                  <a:srgbClr val="182221"/>
                </a:solidFill>
                <a:latin typeface="Arial"/>
                <a:ea typeface="Arial"/>
                <a:cs typeface="Arial"/>
              </a:rPr>
              <a:t>Keep the simpler approach when extra agent work does not help.</a:t>
            </a:r>
          </a:p>
        </p:txBody>
      </p:sp>
      <p:sp>
        <p:nvSpPr>
          <p:cNvPr id="6" name="">
            <a:extLst xmlns:a="http://schemas.openxmlformats.org/drawingml/2006/main">
              <a:ext uri="{FF2B5EF4-FFF2-40B4-BE49-F238E27FC236}">
                <a16:creationId xmlns:a16="http://schemas.microsoft.com/office/drawing/2014/main" id="{2F93AE40-2946-440F-AFCC-0C74EE4BBF40}"/>
              </a:ext>
            </a:extLst>
          </p:cNvPr>
          <p:cNvSpPr>
            <a:spLocks xmlns:a="http://schemas.openxmlformats.org/drawingml/2006/main" noGrp="1"/>
          </p:cNvSpPr>
          <p:nvPr/>
        </p:nvSpPr>
        <p:spPr>
          <a:xfrm xmlns:a="http://schemas.openxmlformats.org/drawingml/2006/main">
            <a:off x="685800" y="60960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35E"/>
                </a:solidFill>
                <a:latin typeface="Arial"/>
                <a:ea typeface="Arial"/>
                <a:cs typeface="Arial"/>
              </a:defRPr>
            </a:defPPr>
            <a:lvl1pPr>
              <a:defRPr sz="1650" b="0">
                <a:solidFill>
                  <a:srgbClr val="59635E"/>
                </a:solidFill>
                <a:latin typeface="Arial"/>
                <a:ea typeface="Arial"/>
                <a:cs typeface="Arial"/>
              </a:defRPr>
            </a:lvl1pPr>
            <a:lvl2pPr>
              <a:defRPr sz="1650" b="0">
                <a:solidFill>
                  <a:srgbClr val="59635E"/>
                </a:solidFill>
                <a:latin typeface="Arial"/>
                <a:ea typeface="Arial"/>
                <a:cs typeface="Arial"/>
              </a:defRPr>
            </a:lvl2pPr>
            <a:lvl3pPr>
              <a:defRPr sz="1650" b="0">
                <a:solidFill>
                  <a:srgbClr val="59635E"/>
                </a:solidFill>
                <a:latin typeface="Arial"/>
                <a:ea typeface="Arial"/>
                <a:cs typeface="Arial"/>
              </a:defRPr>
            </a:lvl3pPr>
            <a:lvl4pPr>
              <a:defRPr sz="1650" b="0">
                <a:solidFill>
                  <a:srgbClr val="59635E"/>
                </a:solidFill>
                <a:latin typeface="Arial"/>
                <a:ea typeface="Arial"/>
                <a:cs typeface="Arial"/>
              </a:defRPr>
            </a:lvl4pPr>
            <a:lvl5pPr>
              <a:defRPr sz="1650" b="0">
                <a:solidFill>
                  <a:srgbClr val="59635E"/>
                </a:solidFill>
                <a:latin typeface="Arial"/>
                <a:ea typeface="Arial"/>
                <a:cs typeface="Arial"/>
              </a:defRPr>
            </a:lvl5pPr>
            <a:lvl6pPr>
              <a:defRPr sz="1650" b="0">
                <a:solidFill>
                  <a:srgbClr val="59635E"/>
                </a:solidFill>
                <a:latin typeface="Arial"/>
                <a:ea typeface="Arial"/>
                <a:cs typeface="Arial"/>
              </a:defRPr>
            </a:lvl6pPr>
            <a:lvl7pPr>
              <a:defRPr sz="1650" b="0">
                <a:solidFill>
                  <a:srgbClr val="59635E"/>
                </a:solidFill>
                <a:latin typeface="Arial"/>
                <a:ea typeface="Arial"/>
                <a:cs typeface="Arial"/>
              </a:defRPr>
            </a:lvl7pPr>
            <a:lvl8pPr>
              <a:defRPr sz="1650" b="0">
                <a:solidFill>
                  <a:srgbClr val="59635E"/>
                </a:solidFill>
                <a:latin typeface="Arial"/>
                <a:ea typeface="Arial"/>
                <a:cs typeface="Arial"/>
              </a:defRPr>
            </a:lvl8pPr>
            <a:lvl9pPr>
              <a:defRPr sz="1650" b="0">
                <a:solidFill>
                  <a:srgbClr val="59635E"/>
                </a:solidFill>
                <a:latin typeface="Arial"/>
                <a:ea typeface="Arial"/>
                <a:cs typeface="Arial"/>
              </a:defRPr>
            </a:lvl9pPr>
          </a:lstStyle>
          <a:p xmlns:a="http://schemas.openxmlformats.org/drawingml/2006/main">
            <a:pPr>
              <a:defRPr sz="1650" b="0">
                <a:solidFill>
                  <a:srgbClr val="59635E"/>
                </a:solidFill>
                <a:latin typeface="Arial"/>
                <a:ea typeface="Arial"/>
                <a:cs typeface="Arial"/>
              </a:defRPr>
            </a:pPr>
            <a:r>
              <a:rPr sz="1650" b="0">
                <a:solidFill>
                  <a:srgbClr val="59635E"/>
                </a:solidFill>
                <a:latin typeface="Arial"/>
                <a:ea typeface="Arial"/>
                <a:cs typeface="Arial"/>
              </a:rPr>
              <a:t>CURRENT GATE · The trained checkpoint needs serving and evaluation.</a:t>
            </a:r>
          </a:p>
        </p:txBody>
      </p:sp>
    </p:spTree>
    <p:extLst>
      <p:ext uri="{BB962C8B-B14F-4D97-AF65-F5344CB8AC3E}">
        <p14:creationId xmlns:p14="http://schemas.microsoft.com/office/powerpoint/2010/main" val="1527465650"/>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6845EE-0185-40F5-BD1C-077C72920251}"/>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Spend less to learn what customers value</a:t>
            </a:r>
          </a:p>
        </p:txBody>
      </p:sp>
      <p:sp>
        <p:nvSpPr>
          <p:cNvPr id="2" name="">
            <a:extLst xmlns:a="http://schemas.openxmlformats.org/drawingml/2006/main">
              <a:ext uri="{FF2B5EF4-FFF2-40B4-BE49-F238E27FC236}">
                <a16:creationId xmlns:a16="http://schemas.microsoft.com/office/drawing/2014/main" id="{6A231FEA-7C43-4592-BCB3-ED587C8D28D9}"/>
              </a:ext>
            </a:extLst>
          </p:cNvPr>
          <p:cNvSpPr>
            <a:spLocks xmlns:a="http://schemas.openxmlformats.org/drawingml/2006/main" noGrp="1"/>
          </p:cNvSpPr>
          <p:nvPr/>
        </p:nvSpPr>
        <p:spPr>
          <a:xfrm xmlns:a="http://schemas.openxmlformats.org/drawingml/2006/main">
            <a:off x="685800"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0B6B50"/>
                </a:solidFill>
                <a:latin typeface="Arial"/>
                <a:ea typeface="Arial"/>
                <a:cs typeface="Arial"/>
              </a:defRPr>
            </a:defPPr>
            <a:lvl1pPr>
              <a:defRPr sz="1650" b="1">
                <a:solidFill>
                  <a:srgbClr val="0B6B50"/>
                </a:solidFill>
                <a:latin typeface="Arial"/>
                <a:ea typeface="Arial"/>
                <a:cs typeface="Arial"/>
              </a:defRPr>
            </a:lvl1pPr>
            <a:lvl2pPr>
              <a:defRPr sz="1650" b="1">
                <a:solidFill>
                  <a:srgbClr val="0B6B50"/>
                </a:solidFill>
                <a:latin typeface="Arial"/>
                <a:ea typeface="Arial"/>
                <a:cs typeface="Arial"/>
              </a:defRPr>
            </a:lvl2pPr>
            <a:lvl3pPr>
              <a:defRPr sz="1650" b="1">
                <a:solidFill>
                  <a:srgbClr val="0B6B50"/>
                </a:solidFill>
                <a:latin typeface="Arial"/>
                <a:ea typeface="Arial"/>
                <a:cs typeface="Arial"/>
              </a:defRPr>
            </a:lvl3pPr>
            <a:lvl4pPr>
              <a:defRPr sz="1650" b="1">
                <a:solidFill>
                  <a:srgbClr val="0B6B50"/>
                </a:solidFill>
                <a:latin typeface="Arial"/>
                <a:ea typeface="Arial"/>
                <a:cs typeface="Arial"/>
              </a:defRPr>
            </a:lvl4pPr>
            <a:lvl5pPr>
              <a:defRPr sz="1650" b="1">
                <a:solidFill>
                  <a:srgbClr val="0B6B50"/>
                </a:solidFill>
                <a:latin typeface="Arial"/>
                <a:ea typeface="Arial"/>
                <a:cs typeface="Arial"/>
              </a:defRPr>
            </a:lvl5pPr>
            <a:lvl6pPr>
              <a:defRPr sz="1650" b="1">
                <a:solidFill>
                  <a:srgbClr val="0B6B50"/>
                </a:solidFill>
                <a:latin typeface="Arial"/>
                <a:ea typeface="Arial"/>
                <a:cs typeface="Arial"/>
              </a:defRPr>
            </a:lvl6pPr>
            <a:lvl7pPr>
              <a:defRPr sz="1650" b="1">
                <a:solidFill>
                  <a:srgbClr val="0B6B50"/>
                </a:solidFill>
                <a:latin typeface="Arial"/>
                <a:ea typeface="Arial"/>
                <a:cs typeface="Arial"/>
              </a:defRPr>
            </a:lvl7pPr>
            <a:lvl8pPr>
              <a:defRPr sz="1650" b="1">
                <a:solidFill>
                  <a:srgbClr val="0B6B50"/>
                </a:solidFill>
                <a:latin typeface="Arial"/>
                <a:ea typeface="Arial"/>
                <a:cs typeface="Arial"/>
              </a:defRPr>
            </a:lvl8pPr>
            <a:lvl9pPr>
              <a:defRPr sz="1650" b="1">
                <a:solidFill>
                  <a:srgbClr val="0B6B50"/>
                </a:solidFill>
                <a:latin typeface="Arial"/>
                <a:ea typeface="Arial"/>
                <a:cs typeface="Arial"/>
              </a:defRPr>
            </a:lvl9pPr>
          </a:lstStyle>
          <a:p xmlns:a="http://schemas.openxmlformats.org/drawingml/2006/main">
            <a:pPr>
              <a:defRPr sz="1650" b="1">
                <a:solidFill>
                  <a:srgbClr val="0B6B50"/>
                </a:solidFill>
                <a:latin typeface="Arial"/>
                <a:ea typeface="Arial"/>
                <a:cs typeface="Arial"/>
              </a:defRPr>
            </a:pPr>
            <a:r>
              <a:rPr sz="1650" b="1">
                <a:solidFill>
                  <a:srgbClr val="0B6B50"/>
                </a:solidFill>
                <a:latin typeface="Arial"/>
                <a:ea typeface="Arial"/>
                <a:cs typeface="Arial"/>
              </a:rPr>
              <a:t>FEATURE LOOP</a:t>
            </a:r>
          </a:p>
        </p:txBody>
      </p:sp>
      <p:sp>
        <p:nvSpPr>
          <p:cNvPr id="3" name="">
            <a:extLst xmlns:a="http://schemas.openxmlformats.org/drawingml/2006/main">
              <a:ext uri="{FF2B5EF4-FFF2-40B4-BE49-F238E27FC236}">
                <a16:creationId xmlns:a16="http://schemas.microsoft.com/office/drawing/2014/main" id="{73107B8D-CE2A-441C-A566-EAAE4977DC5F}"/>
              </a:ext>
            </a:extLst>
          </p:cNvPr>
          <p:cNvSpPr>
            <a:spLocks xmlns:a="http://schemas.openxmlformats.org/drawingml/2006/main" noGrp="1"/>
          </p:cNvSpPr>
          <p:nvPr/>
        </p:nvSpPr>
        <p:spPr>
          <a:xfrm xmlns:a="http://schemas.openxmlformats.org/drawingml/2006/main">
            <a:off x="685800" y="2143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82221"/>
                </a:solidFill>
                <a:latin typeface="Arial"/>
                <a:ea typeface="Arial"/>
                <a:cs typeface="Arial"/>
              </a:defRPr>
            </a:defPPr>
            <a:lvl1pPr>
              <a:defRPr sz="2625" b="1">
                <a:solidFill>
                  <a:srgbClr val="182221"/>
                </a:solidFill>
                <a:latin typeface="Arial"/>
                <a:ea typeface="Arial"/>
                <a:cs typeface="Arial"/>
              </a:defRPr>
            </a:lvl1pPr>
            <a:lvl2pPr>
              <a:defRPr sz="2625" b="1">
                <a:solidFill>
                  <a:srgbClr val="182221"/>
                </a:solidFill>
                <a:latin typeface="Arial"/>
                <a:ea typeface="Arial"/>
                <a:cs typeface="Arial"/>
              </a:defRPr>
            </a:lvl2pPr>
            <a:lvl3pPr>
              <a:defRPr sz="2625" b="1">
                <a:solidFill>
                  <a:srgbClr val="182221"/>
                </a:solidFill>
                <a:latin typeface="Arial"/>
                <a:ea typeface="Arial"/>
                <a:cs typeface="Arial"/>
              </a:defRPr>
            </a:lvl3pPr>
            <a:lvl4pPr>
              <a:defRPr sz="2625" b="1">
                <a:solidFill>
                  <a:srgbClr val="182221"/>
                </a:solidFill>
                <a:latin typeface="Arial"/>
                <a:ea typeface="Arial"/>
                <a:cs typeface="Arial"/>
              </a:defRPr>
            </a:lvl4pPr>
            <a:lvl5pPr>
              <a:defRPr sz="2625" b="1">
                <a:solidFill>
                  <a:srgbClr val="182221"/>
                </a:solidFill>
                <a:latin typeface="Arial"/>
                <a:ea typeface="Arial"/>
                <a:cs typeface="Arial"/>
              </a:defRPr>
            </a:lvl5pPr>
            <a:lvl6pPr>
              <a:defRPr sz="2625" b="1">
                <a:solidFill>
                  <a:srgbClr val="182221"/>
                </a:solidFill>
                <a:latin typeface="Arial"/>
                <a:ea typeface="Arial"/>
                <a:cs typeface="Arial"/>
              </a:defRPr>
            </a:lvl6pPr>
            <a:lvl7pPr>
              <a:defRPr sz="2625" b="1">
                <a:solidFill>
                  <a:srgbClr val="182221"/>
                </a:solidFill>
                <a:latin typeface="Arial"/>
                <a:ea typeface="Arial"/>
                <a:cs typeface="Arial"/>
              </a:defRPr>
            </a:lvl7pPr>
            <a:lvl8pPr>
              <a:defRPr sz="2625" b="1">
                <a:solidFill>
                  <a:srgbClr val="182221"/>
                </a:solidFill>
                <a:latin typeface="Arial"/>
                <a:ea typeface="Arial"/>
                <a:cs typeface="Arial"/>
              </a:defRPr>
            </a:lvl8pPr>
            <a:lvl9pPr>
              <a:defRPr sz="2625" b="1">
                <a:solidFill>
                  <a:srgbClr val="182221"/>
                </a:solidFill>
                <a:latin typeface="Arial"/>
                <a:ea typeface="Arial"/>
                <a:cs typeface="Arial"/>
              </a:defRPr>
            </a:lvl9pPr>
          </a:lstStyle>
          <a:p xmlns:a="http://schemas.openxmlformats.org/drawingml/2006/main">
            <a:pPr>
              <a:defRPr sz="2625" b="1">
                <a:solidFill>
                  <a:srgbClr val="182221"/>
                </a:solidFill>
                <a:latin typeface="Arial"/>
                <a:ea typeface="Arial"/>
                <a:cs typeface="Arial"/>
              </a:defRPr>
            </a:pPr>
            <a:r>
              <a:rPr sz="2625" b="1">
                <a:solidFill>
                  <a:srgbClr val="182221"/>
                </a:solidFill>
                <a:latin typeface="Arial"/>
                <a:ea typeface="Arial"/>
                <a:cs typeface="Arial"/>
              </a:rPr>
              <a:t>Recover a feature  →  test its behavior  →  ship</a:t>
            </a:r>
          </a:p>
        </p:txBody>
      </p:sp>
      <p:sp>
        <p:nvSpPr>
          <p:cNvPr id="4" name="">
            <a:extLst xmlns:a="http://schemas.openxmlformats.org/drawingml/2006/main">
              <a:ext uri="{FF2B5EF4-FFF2-40B4-BE49-F238E27FC236}">
                <a16:creationId xmlns:a16="http://schemas.microsoft.com/office/drawing/2014/main" id="{1DBD2D5B-4231-4636-AF5B-0BCEE022C72B}"/>
              </a:ext>
            </a:extLst>
          </p:cNvPr>
          <p:cNvSpPr>
            <a:spLocks xmlns:a="http://schemas.openxmlformats.org/drawingml/2006/main" noGrp="1"/>
          </p:cNvSpPr>
          <p:nvPr/>
        </p:nvSpPr>
        <p:spPr>
          <a:xfrm xmlns:a="http://schemas.openxmlformats.org/drawingml/2006/main">
            <a:off x="685800" y="3143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0B6B50"/>
                </a:solidFill>
                <a:latin typeface="Arial"/>
                <a:ea typeface="Arial"/>
                <a:cs typeface="Arial"/>
              </a:defRPr>
            </a:defPPr>
            <a:lvl1pPr>
              <a:defRPr sz="1650" b="1">
                <a:solidFill>
                  <a:srgbClr val="0B6B50"/>
                </a:solidFill>
                <a:latin typeface="Arial"/>
                <a:ea typeface="Arial"/>
                <a:cs typeface="Arial"/>
              </a:defRPr>
            </a:lvl1pPr>
            <a:lvl2pPr>
              <a:defRPr sz="1650" b="1">
                <a:solidFill>
                  <a:srgbClr val="0B6B50"/>
                </a:solidFill>
                <a:latin typeface="Arial"/>
                <a:ea typeface="Arial"/>
                <a:cs typeface="Arial"/>
              </a:defRPr>
            </a:lvl2pPr>
            <a:lvl3pPr>
              <a:defRPr sz="1650" b="1">
                <a:solidFill>
                  <a:srgbClr val="0B6B50"/>
                </a:solidFill>
                <a:latin typeface="Arial"/>
                <a:ea typeface="Arial"/>
                <a:cs typeface="Arial"/>
              </a:defRPr>
            </a:lvl3pPr>
            <a:lvl4pPr>
              <a:defRPr sz="1650" b="1">
                <a:solidFill>
                  <a:srgbClr val="0B6B50"/>
                </a:solidFill>
                <a:latin typeface="Arial"/>
                <a:ea typeface="Arial"/>
                <a:cs typeface="Arial"/>
              </a:defRPr>
            </a:lvl4pPr>
            <a:lvl5pPr>
              <a:defRPr sz="1650" b="1">
                <a:solidFill>
                  <a:srgbClr val="0B6B50"/>
                </a:solidFill>
                <a:latin typeface="Arial"/>
                <a:ea typeface="Arial"/>
                <a:cs typeface="Arial"/>
              </a:defRPr>
            </a:lvl5pPr>
            <a:lvl6pPr>
              <a:defRPr sz="1650" b="1">
                <a:solidFill>
                  <a:srgbClr val="0B6B50"/>
                </a:solidFill>
                <a:latin typeface="Arial"/>
                <a:ea typeface="Arial"/>
                <a:cs typeface="Arial"/>
              </a:defRPr>
            </a:lvl6pPr>
            <a:lvl7pPr>
              <a:defRPr sz="1650" b="1">
                <a:solidFill>
                  <a:srgbClr val="0B6B50"/>
                </a:solidFill>
                <a:latin typeface="Arial"/>
                <a:ea typeface="Arial"/>
                <a:cs typeface="Arial"/>
              </a:defRPr>
            </a:lvl7pPr>
            <a:lvl8pPr>
              <a:defRPr sz="1650" b="1">
                <a:solidFill>
                  <a:srgbClr val="0B6B50"/>
                </a:solidFill>
                <a:latin typeface="Arial"/>
                <a:ea typeface="Arial"/>
                <a:cs typeface="Arial"/>
              </a:defRPr>
            </a:lvl8pPr>
            <a:lvl9pPr>
              <a:defRPr sz="1650" b="1">
                <a:solidFill>
                  <a:srgbClr val="0B6B50"/>
                </a:solidFill>
                <a:latin typeface="Arial"/>
                <a:ea typeface="Arial"/>
                <a:cs typeface="Arial"/>
              </a:defRPr>
            </a:lvl9pPr>
          </a:lstStyle>
          <a:p xmlns:a="http://schemas.openxmlformats.org/drawingml/2006/main">
            <a:pPr>
              <a:defRPr sz="1650" b="1">
                <a:solidFill>
                  <a:srgbClr val="0B6B50"/>
                </a:solidFill>
                <a:latin typeface="Arial"/>
                <a:ea typeface="Arial"/>
                <a:cs typeface="Arial"/>
              </a:defRPr>
            </a:pPr>
            <a:r>
              <a:rPr sz="1650" b="1">
                <a:solidFill>
                  <a:srgbClr val="0B6B50"/>
                </a:solidFill>
                <a:latin typeface="Arial"/>
                <a:ea typeface="Arial"/>
                <a:cs typeface="Arial"/>
              </a:rPr>
              <a:t>LEARNING LOOP</a:t>
            </a:r>
          </a:p>
        </p:txBody>
      </p:sp>
      <p:sp>
        <p:nvSpPr>
          <p:cNvPr id="5" name="">
            <a:extLst xmlns:a="http://schemas.openxmlformats.org/drawingml/2006/main">
              <a:ext uri="{FF2B5EF4-FFF2-40B4-BE49-F238E27FC236}">
                <a16:creationId xmlns:a16="http://schemas.microsoft.com/office/drawing/2014/main" id="{9C491D2C-8731-4B53-A9CD-AA587B35A669}"/>
              </a:ext>
            </a:extLst>
          </p:cNvPr>
          <p:cNvSpPr>
            <a:spLocks xmlns:a="http://schemas.openxmlformats.org/drawingml/2006/main" noGrp="1"/>
          </p:cNvSpPr>
          <p:nvPr/>
        </p:nvSpPr>
        <p:spPr>
          <a:xfrm xmlns:a="http://schemas.openxmlformats.org/drawingml/2006/main">
            <a:off x="685800" y="3619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82221"/>
                </a:solidFill>
                <a:latin typeface="Arial"/>
                <a:ea typeface="Arial"/>
                <a:cs typeface="Arial"/>
              </a:defRPr>
            </a:defPPr>
            <a:lvl1pPr>
              <a:defRPr sz="2475" b="1">
                <a:solidFill>
                  <a:srgbClr val="182221"/>
                </a:solidFill>
                <a:latin typeface="Arial"/>
                <a:ea typeface="Arial"/>
                <a:cs typeface="Arial"/>
              </a:defRPr>
            </a:lvl1pPr>
            <a:lvl2pPr>
              <a:defRPr sz="2475" b="1">
                <a:solidFill>
                  <a:srgbClr val="182221"/>
                </a:solidFill>
                <a:latin typeface="Arial"/>
                <a:ea typeface="Arial"/>
                <a:cs typeface="Arial"/>
              </a:defRPr>
            </a:lvl2pPr>
            <a:lvl3pPr>
              <a:defRPr sz="2475" b="1">
                <a:solidFill>
                  <a:srgbClr val="182221"/>
                </a:solidFill>
                <a:latin typeface="Arial"/>
                <a:ea typeface="Arial"/>
                <a:cs typeface="Arial"/>
              </a:defRPr>
            </a:lvl3pPr>
            <a:lvl4pPr>
              <a:defRPr sz="2475" b="1">
                <a:solidFill>
                  <a:srgbClr val="182221"/>
                </a:solidFill>
                <a:latin typeface="Arial"/>
                <a:ea typeface="Arial"/>
                <a:cs typeface="Arial"/>
              </a:defRPr>
            </a:lvl4pPr>
            <a:lvl5pPr>
              <a:defRPr sz="2475" b="1">
                <a:solidFill>
                  <a:srgbClr val="182221"/>
                </a:solidFill>
                <a:latin typeface="Arial"/>
                <a:ea typeface="Arial"/>
                <a:cs typeface="Arial"/>
              </a:defRPr>
            </a:lvl5pPr>
            <a:lvl6pPr>
              <a:defRPr sz="2475" b="1">
                <a:solidFill>
                  <a:srgbClr val="182221"/>
                </a:solidFill>
                <a:latin typeface="Arial"/>
                <a:ea typeface="Arial"/>
                <a:cs typeface="Arial"/>
              </a:defRPr>
            </a:lvl6pPr>
            <a:lvl7pPr>
              <a:defRPr sz="2475" b="1">
                <a:solidFill>
                  <a:srgbClr val="182221"/>
                </a:solidFill>
                <a:latin typeface="Arial"/>
                <a:ea typeface="Arial"/>
                <a:cs typeface="Arial"/>
              </a:defRPr>
            </a:lvl7pPr>
            <a:lvl8pPr>
              <a:defRPr sz="2475" b="1">
                <a:solidFill>
                  <a:srgbClr val="182221"/>
                </a:solidFill>
                <a:latin typeface="Arial"/>
                <a:ea typeface="Arial"/>
                <a:cs typeface="Arial"/>
              </a:defRPr>
            </a:lvl8pPr>
            <a:lvl9pPr>
              <a:defRPr sz="2475" b="1">
                <a:solidFill>
                  <a:srgbClr val="182221"/>
                </a:solidFill>
                <a:latin typeface="Arial"/>
                <a:ea typeface="Arial"/>
                <a:cs typeface="Arial"/>
              </a:defRPr>
            </a:lvl9pPr>
          </a:lstStyle>
          <a:p xmlns:a="http://schemas.openxmlformats.org/drawingml/2006/main">
            <a:pPr>
              <a:defRPr sz="2475" b="1">
                <a:solidFill>
                  <a:srgbClr val="182221"/>
                </a:solidFill>
                <a:latin typeface="Arial"/>
                <a:ea typeface="Arial"/>
                <a:cs typeface="Arial"/>
              </a:defRPr>
            </a:pPr>
            <a:r>
              <a:rPr sz="2475" b="1">
                <a:solidFill>
                  <a:srgbClr val="182221"/>
                </a:solidFill>
                <a:latin typeface="Arial"/>
                <a:ea typeface="Arial"/>
                <a:cs typeface="Arial"/>
              </a:rPr>
              <a:t>Learn a workflow  →  measure effort + quality  →  reuse</a:t>
            </a:r>
          </a:p>
        </p:txBody>
      </p:sp>
      <p:sp>
        <p:nvSpPr>
          <p:cNvPr id="6" name="">
            <a:extLst xmlns:a="http://schemas.openxmlformats.org/drawingml/2006/main">
              <a:ext uri="{FF2B5EF4-FFF2-40B4-BE49-F238E27FC236}">
                <a16:creationId xmlns:a16="http://schemas.microsoft.com/office/drawing/2014/main" id="{AC42DA30-F5EE-4CBA-9C6F-7FE47351D62F}"/>
              </a:ext>
            </a:extLst>
          </p:cNvPr>
          <p:cNvSpPr>
            <a:spLocks xmlns:a="http://schemas.openxmlformats.org/drawingml/2006/main" noGrp="1"/>
          </p:cNvSpPr>
          <p:nvPr/>
        </p:nvSpPr>
        <p:spPr>
          <a:xfrm xmlns:a="http://schemas.openxmlformats.org/drawingml/2006/main">
            <a:off x="685800" y="4667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82221"/>
                </a:solidFill>
                <a:latin typeface="Arial"/>
                <a:ea typeface="Arial"/>
                <a:cs typeface="Arial"/>
              </a:defRPr>
            </a:defPPr>
            <a:lvl1pPr>
              <a:defRPr sz="2100" b="0">
                <a:solidFill>
                  <a:srgbClr val="182221"/>
                </a:solidFill>
                <a:latin typeface="Arial"/>
                <a:ea typeface="Arial"/>
                <a:cs typeface="Arial"/>
              </a:defRPr>
            </a:lvl1pPr>
            <a:lvl2pPr>
              <a:defRPr sz="2100" b="0">
                <a:solidFill>
                  <a:srgbClr val="182221"/>
                </a:solidFill>
                <a:latin typeface="Arial"/>
                <a:ea typeface="Arial"/>
                <a:cs typeface="Arial"/>
              </a:defRPr>
            </a:lvl2pPr>
            <a:lvl3pPr>
              <a:defRPr sz="2100" b="0">
                <a:solidFill>
                  <a:srgbClr val="182221"/>
                </a:solidFill>
                <a:latin typeface="Arial"/>
                <a:ea typeface="Arial"/>
                <a:cs typeface="Arial"/>
              </a:defRPr>
            </a:lvl3pPr>
            <a:lvl4pPr>
              <a:defRPr sz="2100" b="0">
                <a:solidFill>
                  <a:srgbClr val="182221"/>
                </a:solidFill>
                <a:latin typeface="Arial"/>
                <a:ea typeface="Arial"/>
                <a:cs typeface="Arial"/>
              </a:defRPr>
            </a:lvl4pPr>
            <a:lvl5pPr>
              <a:defRPr sz="2100" b="0">
                <a:solidFill>
                  <a:srgbClr val="182221"/>
                </a:solidFill>
                <a:latin typeface="Arial"/>
                <a:ea typeface="Arial"/>
                <a:cs typeface="Arial"/>
              </a:defRPr>
            </a:lvl5pPr>
            <a:lvl6pPr>
              <a:defRPr sz="2100" b="0">
                <a:solidFill>
                  <a:srgbClr val="182221"/>
                </a:solidFill>
                <a:latin typeface="Arial"/>
                <a:ea typeface="Arial"/>
                <a:cs typeface="Arial"/>
              </a:defRPr>
            </a:lvl6pPr>
            <a:lvl7pPr>
              <a:defRPr sz="2100" b="0">
                <a:solidFill>
                  <a:srgbClr val="182221"/>
                </a:solidFill>
                <a:latin typeface="Arial"/>
                <a:ea typeface="Arial"/>
                <a:cs typeface="Arial"/>
              </a:defRPr>
            </a:lvl7pPr>
            <a:lvl8pPr>
              <a:defRPr sz="2100" b="0">
                <a:solidFill>
                  <a:srgbClr val="182221"/>
                </a:solidFill>
                <a:latin typeface="Arial"/>
                <a:ea typeface="Arial"/>
                <a:cs typeface="Arial"/>
              </a:defRPr>
            </a:lvl8pPr>
            <a:lvl9pPr>
              <a:defRPr sz="2100" b="0">
                <a:solidFill>
                  <a:srgbClr val="182221"/>
                </a:solidFill>
                <a:latin typeface="Arial"/>
                <a:ea typeface="Arial"/>
                <a:cs typeface="Arial"/>
              </a:defRPr>
            </a:lvl9pPr>
          </a:lstStyle>
          <a:p xmlns:a="http://schemas.openxmlformats.org/drawingml/2006/main">
            <a:pPr>
              <a:defRPr sz="2100" b="0">
                <a:solidFill>
                  <a:srgbClr val="182221"/>
                </a:solidFill>
                <a:latin typeface="Arial"/>
                <a:ea typeface="Arial"/>
                <a:cs typeface="Arial"/>
              </a:defRPr>
            </a:pPr>
            <a:r>
              <a:rPr sz="2100" b="0">
                <a:solidFill>
                  <a:srgbClr val="182221"/>
                </a:solidFill>
                <a:latin typeface="Arial"/>
                <a:ea typeface="Arial"/>
                <a:cs typeface="Arial"/>
              </a:rPr>
              <a:t>Keep specs, tests, traces and decisions when models change.</a:t>
            </a:r>
          </a:p>
        </p:txBody>
      </p:sp>
      <p:sp>
        <p:nvSpPr>
          <p:cNvPr id="7" name="">
            <a:extLst xmlns:a="http://schemas.openxmlformats.org/drawingml/2006/main">
              <a:ext uri="{FF2B5EF4-FFF2-40B4-BE49-F238E27FC236}">
                <a16:creationId xmlns:a16="http://schemas.microsoft.com/office/drawing/2014/main" id="{8EB367EF-FC8E-4485-9FBE-158EC6F20A61}"/>
              </a:ext>
            </a:extLst>
          </p:cNvPr>
          <p:cNvSpPr>
            <a:spLocks xmlns:a="http://schemas.openxmlformats.org/drawingml/2006/main" noGrp="1"/>
          </p:cNvSpPr>
          <p:nvPr/>
        </p:nvSpPr>
        <p:spPr>
          <a:xfrm xmlns:a="http://schemas.openxmlformats.org/drawingml/2006/main">
            <a:off x="685800" y="54292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B6B50"/>
                </a:solidFill>
                <a:latin typeface="Arial"/>
                <a:ea typeface="Arial"/>
                <a:cs typeface="Arial"/>
              </a:defRPr>
            </a:defPPr>
            <a:lvl1pPr>
              <a:defRPr sz="1950" b="0">
                <a:solidFill>
                  <a:srgbClr val="0B6B50"/>
                </a:solidFill>
                <a:latin typeface="Arial"/>
                <a:ea typeface="Arial"/>
                <a:cs typeface="Arial"/>
              </a:defRPr>
            </a:lvl1pPr>
            <a:lvl2pPr>
              <a:defRPr sz="1950" b="0">
                <a:solidFill>
                  <a:srgbClr val="0B6B50"/>
                </a:solidFill>
                <a:latin typeface="Arial"/>
                <a:ea typeface="Arial"/>
                <a:cs typeface="Arial"/>
              </a:defRPr>
            </a:lvl2pPr>
            <a:lvl3pPr>
              <a:defRPr sz="1950" b="0">
                <a:solidFill>
                  <a:srgbClr val="0B6B50"/>
                </a:solidFill>
                <a:latin typeface="Arial"/>
                <a:ea typeface="Arial"/>
                <a:cs typeface="Arial"/>
              </a:defRPr>
            </a:lvl3pPr>
            <a:lvl4pPr>
              <a:defRPr sz="1950" b="0">
                <a:solidFill>
                  <a:srgbClr val="0B6B50"/>
                </a:solidFill>
                <a:latin typeface="Arial"/>
                <a:ea typeface="Arial"/>
                <a:cs typeface="Arial"/>
              </a:defRPr>
            </a:lvl4pPr>
            <a:lvl5pPr>
              <a:defRPr sz="1950" b="0">
                <a:solidFill>
                  <a:srgbClr val="0B6B50"/>
                </a:solidFill>
                <a:latin typeface="Arial"/>
                <a:ea typeface="Arial"/>
                <a:cs typeface="Arial"/>
              </a:defRPr>
            </a:lvl5pPr>
            <a:lvl6pPr>
              <a:defRPr sz="1950" b="0">
                <a:solidFill>
                  <a:srgbClr val="0B6B50"/>
                </a:solidFill>
                <a:latin typeface="Arial"/>
                <a:ea typeface="Arial"/>
                <a:cs typeface="Arial"/>
              </a:defRPr>
            </a:lvl6pPr>
            <a:lvl7pPr>
              <a:defRPr sz="1950" b="0">
                <a:solidFill>
                  <a:srgbClr val="0B6B50"/>
                </a:solidFill>
                <a:latin typeface="Arial"/>
                <a:ea typeface="Arial"/>
                <a:cs typeface="Arial"/>
              </a:defRPr>
            </a:lvl7pPr>
            <a:lvl8pPr>
              <a:defRPr sz="1950" b="0">
                <a:solidFill>
                  <a:srgbClr val="0B6B50"/>
                </a:solidFill>
                <a:latin typeface="Arial"/>
                <a:ea typeface="Arial"/>
                <a:cs typeface="Arial"/>
              </a:defRPr>
            </a:lvl8pPr>
            <a:lvl9pPr>
              <a:defRPr sz="1950" b="0">
                <a:solidFill>
                  <a:srgbClr val="0B6B50"/>
                </a:solidFill>
                <a:latin typeface="Arial"/>
                <a:ea typeface="Arial"/>
                <a:cs typeface="Arial"/>
              </a:defRPr>
            </a:lvl9pPr>
          </a:lstStyle>
          <a:p xmlns:a="http://schemas.openxmlformats.org/drawingml/2006/main">
            <a:pPr>
              <a:defRPr sz="1950" b="0">
                <a:solidFill>
                  <a:srgbClr val="0B6B50"/>
                </a:solidFill>
                <a:latin typeface="Arial"/>
                <a:ea typeface="Arial"/>
                <a:cs typeface="Arial"/>
              </a:defRPr>
            </a:pPr>
            <a:r>
              <a:rPr sz="1950" b="0">
                <a:solidFill>
                  <a:srgbClr val="0B6B50"/>
                </a:solidFill>
                <a:latin typeface="Arial"/>
                <a:ea typeface="Arial"/>
                <a:cs typeface="Arial"/>
              </a:rPr>
              <a:t>FUTURE · Roll out gradually → learn what people use and pay for → choose the next feature</a:t>
            </a:r>
          </a:p>
        </p:txBody>
      </p:sp>
      <p:sp>
        <p:nvSpPr>
          <p:cNvPr id="8" name="">
            <a:extLst xmlns:a="http://schemas.openxmlformats.org/drawingml/2006/main">
              <a:ext uri="{FF2B5EF4-FFF2-40B4-BE49-F238E27FC236}">
                <a16:creationId xmlns:a16="http://schemas.microsoft.com/office/drawing/2014/main" id="{44B8E565-7F71-4BBB-9734-5345D9390940}"/>
              </a:ext>
            </a:extLst>
          </p:cNvPr>
          <p:cNvSpPr>
            <a:spLocks xmlns:a="http://schemas.openxmlformats.org/drawingml/2006/main" noGrp="1"/>
          </p:cNvSpPr>
          <p:nvPr/>
        </p:nvSpPr>
        <p:spPr>
          <a:xfrm xmlns:a="http://schemas.openxmlformats.org/drawingml/2006/main">
            <a:off x="685800" y="6334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35E"/>
                </a:solidFill>
                <a:latin typeface="Arial"/>
                <a:ea typeface="Arial"/>
                <a:cs typeface="Arial"/>
              </a:defRPr>
            </a:defPPr>
            <a:lvl1pPr>
              <a:defRPr sz="1500" b="0">
                <a:solidFill>
                  <a:srgbClr val="59635E"/>
                </a:solidFill>
                <a:latin typeface="Arial"/>
                <a:ea typeface="Arial"/>
                <a:cs typeface="Arial"/>
              </a:defRPr>
            </a:lvl1pPr>
            <a:lvl2pPr>
              <a:defRPr sz="1500" b="0">
                <a:solidFill>
                  <a:srgbClr val="59635E"/>
                </a:solidFill>
                <a:latin typeface="Arial"/>
                <a:ea typeface="Arial"/>
                <a:cs typeface="Arial"/>
              </a:defRPr>
            </a:lvl2pPr>
            <a:lvl3pPr>
              <a:defRPr sz="1500" b="0">
                <a:solidFill>
                  <a:srgbClr val="59635E"/>
                </a:solidFill>
                <a:latin typeface="Arial"/>
                <a:ea typeface="Arial"/>
                <a:cs typeface="Arial"/>
              </a:defRPr>
            </a:lvl3pPr>
            <a:lvl4pPr>
              <a:defRPr sz="1500" b="0">
                <a:solidFill>
                  <a:srgbClr val="59635E"/>
                </a:solidFill>
                <a:latin typeface="Arial"/>
                <a:ea typeface="Arial"/>
                <a:cs typeface="Arial"/>
              </a:defRPr>
            </a:lvl4pPr>
            <a:lvl5pPr>
              <a:defRPr sz="1500" b="0">
                <a:solidFill>
                  <a:srgbClr val="59635E"/>
                </a:solidFill>
                <a:latin typeface="Arial"/>
                <a:ea typeface="Arial"/>
                <a:cs typeface="Arial"/>
              </a:defRPr>
            </a:lvl5pPr>
            <a:lvl6pPr>
              <a:defRPr sz="1500" b="0">
                <a:solidFill>
                  <a:srgbClr val="59635E"/>
                </a:solidFill>
                <a:latin typeface="Arial"/>
                <a:ea typeface="Arial"/>
                <a:cs typeface="Arial"/>
              </a:defRPr>
            </a:lvl6pPr>
            <a:lvl7pPr>
              <a:defRPr sz="1500" b="0">
                <a:solidFill>
                  <a:srgbClr val="59635E"/>
                </a:solidFill>
                <a:latin typeface="Arial"/>
                <a:ea typeface="Arial"/>
                <a:cs typeface="Arial"/>
              </a:defRPr>
            </a:lvl7pPr>
            <a:lvl8pPr>
              <a:defRPr sz="1500" b="0">
                <a:solidFill>
                  <a:srgbClr val="59635E"/>
                </a:solidFill>
                <a:latin typeface="Arial"/>
                <a:ea typeface="Arial"/>
                <a:cs typeface="Arial"/>
              </a:defRPr>
            </a:lvl8pPr>
            <a:lvl9pPr>
              <a:defRPr sz="1500" b="0">
                <a:solidFill>
                  <a:srgbClr val="59635E"/>
                </a:solidFill>
                <a:latin typeface="Arial"/>
                <a:ea typeface="Arial"/>
                <a:cs typeface="Arial"/>
              </a:defRPr>
            </a:lvl9pPr>
          </a:lstStyle>
          <a:p xmlns:a="http://schemas.openxmlformats.org/drawingml/2006/main">
            <a:pPr>
              <a:defRPr sz="1500" b="0">
                <a:solidFill>
                  <a:srgbClr val="59635E"/>
                </a:solidFill>
                <a:latin typeface="Arial"/>
                <a:ea typeface="Arial"/>
                <a:cs typeface="Arial"/>
              </a:defRPr>
            </a:pPr>
            <a:r>
              <a:rPr sz="1500" b="0">
                <a:solidFill>
                  <a:srgbClr val="59635E"/>
                </a:solidFill>
                <a:latin typeface="Arial"/>
                <a:ea typeface="Arial"/>
                <a:cs typeface="Arial"/>
              </a:rPr>
              <a:t>Target, not a measured economic result. Token activity is not customer value.</a:t>
            </a:r>
          </a:p>
        </p:txBody>
      </p:sp>
    </p:spTree>
    <p:extLst>
      <p:ext uri="{BB962C8B-B14F-4D97-AF65-F5344CB8AC3E}">
        <p14:creationId xmlns:p14="http://schemas.microsoft.com/office/powerpoint/2010/main" val="532689859"/>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DD5215D-31D4-4752-BA5B-8EBB93E59196}"/>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Two workflows, one evidence trail</a:t>
            </a:r>
          </a:p>
        </p:txBody>
      </p:sp>
      <p:pic>
        <p:nvPicPr>
          <p:cNvPr id="2" name="">
            <a:extLst xmlns:a="http://schemas.openxmlformats.org/drawingml/2006/main">
              <a:ext uri="{FF2B5EF4-FFF2-40B4-BE49-F238E27FC236}">
                <a16:creationId xmlns:a16="http://schemas.microsoft.com/office/drawing/2014/main" id="{AB9CC4FE-0F3B-4762-83E3-332298925D3A}"/>
              </a:ext>
            </a:extLst>
          </p:cNvPr>
          <p:cNvPicPr>
            <a:picLocks xmlns:a="http://schemas.openxmlformats.org/drawingml/2006/main" noChangeAspect="1"/>
          </p:cNvPicPr>
          <p:nvPr/>
        </p:nvPicPr>
        <p:blipFill>
          <a:blip xmlns:r="http://schemas.openxmlformats.org/officeDocument/2006/relationships" xmlns:a="http://schemas.openxmlformats.org/drawingml/2006/main" r:embed="Rac9bd1edefc941d2"/>
          <a:stretch xmlns:a="http://schemas.openxmlformats.org/drawingml/2006/main"/>
        </p:blipFill>
        <p:spPr>
          <a:xfrm xmlns:a="http://schemas.openxmlformats.org/drawingml/2006/main">
            <a:off x="3401419" y="1524000"/>
            <a:ext cx="5389163"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8618E83-1CB4-4F06-A38D-9D5A92045667}"/>
              </a:ext>
            </a:extLst>
          </p:cNvPr>
          <p:cNvSpPr>
            <a:spLocks xmlns:a="http://schemas.openxmlformats.org/drawingml/2006/main" noGrp="1"/>
          </p:cNvSpPr>
          <p:nvPr/>
        </p:nvSpPr>
        <p:spPr>
          <a:xfrm xmlns:a="http://schemas.openxmlformats.org/drawingml/2006/main">
            <a:off x="685800" y="6286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B6B50"/>
                </a:solidFill>
                <a:latin typeface="Arial"/>
                <a:ea typeface="Arial"/>
                <a:cs typeface="Arial"/>
              </a:defRPr>
            </a:defPPr>
            <a:lvl1pPr>
              <a:defRPr sz="1725" b="0">
                <a:solidFill>
                  <a:srgbClr val="0B6B50"/>
                </a:solidFill>
                <a:latin typeface="Arial"/>
                <a:ea typeface="Arial"/>
                <a:cs typeface="Arial"/>
              </a:defRPr>
            </a:lvl1pPr>
            <a:lvl2pPr>
              <a:defRPr sz="1725" b="0">
                <a:solidFill>
                  <a:srgbClr val="0B6B50"/>
                </a:solidFill>
                <a:latin typeface="Arial"/>
                <a:ea typeface="Arial"/>
                <a:cs typeface="Arial"/>
              </a:defRPr>
            </a:lvl2pPr>
            <a:lvl3pPr>
              <a:defRPr sz="1725" b="0">
                <a:solidFill>
                  <a:srgbClr val="0B6B50"/>
                </a:solidFill>
                <a:latin typeface="Arial"/>
                <a:ea typeface="Arial"/>
                <a:cs typeface="Arial"/>
              </a:defRPr>
            </a:lvl3pPr>
            <a:lvl4pPr>
              <a:defRPr sz="1725" b="0">
                <a:solidFill>
                  <a:srgbClr val="0B6B50"/>
                </a:solidFill>
                <a:latin typeface="Arial"/>
                <a:ea typeface="Arial"/>
                <a:cs typeface="Arial"/>
              </a:defRPr>
            </a:lvl4pPr>
            <a:lvl5pPr>
              <a:defRPr sz="1725" b="0">
                <a:solidFill>
                  <a:srgbClr val="0B6B50"/>
                </a:solidFill>
                <a:latin typeface="Arial"/>
                <a:ea typeface="Arial"/>
                <a:cs typeface="Arial"/>
              </a:defRPr>
            </a:lvl5pPr>
            <a:lvl6pPr>
              <a:defRPr sz="1725" b="0">
                <a:solidFill>
                  <a:srgbClr val="0B6B50"/>
                </a:solidFill>
                <a:latin typeface="Arial"/>
                <a:ea typeface="Arial"/>
                <a:cs typeface="Arial"/>
              </a:defRPr>
            </a:lvl6pPr>
            <a:lvl7pPr>
              <a:defRPr sz="1725" b="0">
                <a:solidFill>
                  <a:srgbClr val="0B6B50"/>
                </a:solidFill>
                <a:latin typeface="Arial"/>
                <a:ea typeface="Arial"/>
                <a:cs typeface="Arial"/>
              </a:defRPr>
            </a:lvl7pPr>
            <a:lvl8pPr>
              <a:defRPr sz="1725" b="0">
                <a:solidFill>
                  <a:srgbClr val="0B6B50"/>
                </a:solidFill>
                <a:latin typeface="Arial"/>
                <a:ea typeface="Arial"/>
                <a:cs typeface="Arial"/>
              </a:defRPr>
            </a:lvl8pPr>
            <a:lvl9pPr>
              <a:defRPr sz="1725" b="0">
                <a:solidFill>
                  <a:srgbClr val="0B6B50"/>
                </a:solidFill>
                <a:latin typeface="Arial"/>
                <a:ea typeface="Arial"/>
                <a:cs typeface="Arial"/>
              </a:defRPr>
            </a:lvl9pPr>
          </a:lstStyle>
          <a:p xmlns:a="http://schemas.openxmlformats.org/drawingml/2006/main">
            <a:pPr>
              <a:defRPr sz="1725" b="0">
                <a:solidFill>
                  <a:srgbClr val="0B6B50"/>
                </a:solidFill>
                <a:latin typeface="Arial"/>
                <a:ea typeface="Arial"/>
                <a:cs typeface="Arial"/>
              </a:defRPr>
            </a:pPr>
            <a:r>
              <a:rPr sz="1725" b="0">
                <a:solidFill>
                  <a:srgbClr val="0B6B50"/>
                </a:solidFill>
                <a:latin typeface="Arial"/>
                <a:ea typeface="Arial"/>
                <a:cs typeface="Arial"/>
              </a:rPr>
              <a:t>github.com/Ali-Maq/aya</a:t>
            </a:r>
          </a:p>
        </p:txBody>
      </p:sp>
    </p:spTree>
    <p:extLst>
      <p:ext uri="{BB962C8B-B14F-4D97-AF65-F5344CB8AC3E}">
        <p14:creationId xmlns:p14="http://schemas.microsoft.com/office/powerpoint/2010/main" val="1208572440"/>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8AE15D-D718-4943-ACD9-C8B02078374D}"/>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Evidence · Recovered SQL behavior</a:t>
            </a:r>
          </a:p>
        </p:txBody>
      </p:sp>
      <p:sp>
        <p:nvSpPr>
          <p:cNvPr id="2" name="">
            <a:extLst xmlns:a="http://schemas.openxmlformats.org/drawingml/2006/main">
              <a:ext uri="{FF2B5EF4-FFF2-40B4-BE49-F238E27FC236}">
                <a16:creationId xmlns:a16="http://schemas.microsoft.com/office/drawing/2014/main" id="{B3AA0207-2ED6-43DE-B299-B8FD7659F08A}"/>
              </a:ext>
            </a:extLst>
          </p:cNvPr>
          <p:cNvSpPr>
            <a:spLocks xmlns:a="http://schemas.openxmlformats.org/drawingml/2006/main" noGrp="1"/>
          </p:cNvSpPr>
          <p:nvPr/>
        </p:nvSpPr>
        <p:spPr>
          <a:xfrm xmlns:a="http://schemas.openxmlformats.org/drawingml/2006/main">
            <a:off x="685800" y="18573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00" b="1">
                <a:solidFill>
                  <a:srgbClr val="59635E"/>
                </a:solidFill>
                <a:latin typeface="Arial"/>
                <a:ea typeface="Arial"/>
                <a:cs typeface="Arial"/>
              </a:defRPr>
            </a:defPPr>
            <a:lvl1pPr>
              <a:defRPr sz="5700" b="1">
                <a:solidFill>
                  <a:srgbClr val="59635E"/>
                </a:solidFill>
                <a:latin typeface="Arial"/>
                <a:ea typeface="Arial"/>
                <a:cs typeface="Arial"/>
              </a:defRPr>
            </a:lvl1pPr>
            <a:lvl2pPr>
              <a:defRPr sz="5700" b="1">
                <a:solidFill>
                  <a:srgbClr val="59635E"/>
                </a:solidFill>
                <a:latin typeface="Arial"/>
                <a:ea typeface="Arial"/>
                <a:cs typeface="Arial"/>
              </a:defRPr>
            </a:lvl2pPr>
            <a:lvl3pPr>
              <a:defRPr sz="5700" b="1">
                <a:solidFill>
                  <a:srgbClr val="59635E"/>
                </a:solidFill>
                <a:latin typeface="Arial"/>
                <a:ea typeface="Arial"/>
                <a:cs typeface="Arial"/>
              </a:defRPr>
            </a:lvl3pPr>
            <a:lvl4pPr>
              <a:defRPr sz="5700" b="1">
                <a:solidFill>
                  <a:srgbClr val="59635E"/>
                </a:solidFill>
                <a:latin typeface="Arial"/>
                <a:ea typeface="Arial"/>
                <a:cs typeface="Arial"/>
              </a:defRPr>
            </a:lvl4pPr>
            <a:lvl5pPr>
              <a:defRPr sz="5700" b="1">
                <a:solidFill>
                  <a:srgbClr val="59635E"/>
                </a:solidFill>
                <a:latin typeface="Arial"/>
                <a:ea typeface="Arial"/>
                <a:cs typeface="Arial"/>
              </a:defRPr>
            </a:lvl5pPr>
            <a:lvl6pPr>
              <a:defRPr sz="5700" b="1">
                <a:solidFill>
                  <a:srgbClr val="59635E"/>
                </a:solidFill>
                <a:latin typeface="Arial"/>
                <a:ea typeface="Arial"/>
                <a:cs typeface="Arial"/>
              </a:defRPr>
            </a:lvl6pPr>
            <a:lvl7pPr>
              <a:defRPr sz="5700" b="1">
                <a:solidFill>
                  <a:srgbClr val="59635E"/>
                </a:solidFill>
                <a:latin typeface="Arial"/>
                <a:ea typeface="Arial"/>
                <a:cs typeface="Arial"/>
              </a:defRPr>
            </a:lvl7pPr>
            <a:lvl8pPr>
              <a:defRPr sz="5700" b="1">
                <a:solidFill>
                  <a:srgbClr val="59635E"/>
                </a:solidFill>
                <a:latin typeface="Arial"/>
                <a:ea typeface="Arial"/>
                <a:cs typeface="Arial"/>
              </a:defRPr>
            </a:lvl8pPr>
            <a:lvl9pPr>
              <a:defRPr sz="5700" b="1">
                <a:solidFill>
                  <a:srgbClr val="59635E"/>
                </a:solidFill>
                <a:latin typeface="Arial"/>
                <a:ea typeface="Arial"/>
                <a:cs typeface="Arial"/>
              </a:defRPr>
            </a:lvl9pPr>
          </a:lstStyle>
          <a:p xmlns:a="http://schemas.openxmlformats.org/drawingml/2006/main">
            <a:pPr>
              <a:defRPr sz="5700" b="1">
                <a:solidFill>
                  <a:srgbClr val="59635E"/>
                </a:solidFill>
                <a:latin typeface="Arial"/>
                <a:ea typeface="Arial"/>
                <a:cs typeface="Arial"/>
              </a:defRPr>
            </a:pPr>
            <a:r>
              <a:rPr sz="5700" b="1">
                <a:solidFill>
                  <a:srgbClr val="59635E"/>
                </a:solidFill>
                <a:latin typeface="Arial"/>
                <a:ea typeface="Arial"/>
                <a:cs typeface="Arial"/>
              </a:rPr>
              <a:t>117 / 118</a:t>
            </a:r>
          </a:p>
        </p:txBody>
      </p:sp>
      <p:sp>
        <p:nvSpPr>
          <p:cNvPr id="3" name="">
            <a:extLst xmlns:a="http://schemas.openxmlformats.org/drawingml/2006/main">
              <a:ext uri="{FF2B5EF4-FFF2-40B4-BE49-F238E27FC236}">
                <a16:creationId xmlns:a16="http://schemas.microsoft.com/office/drawing/2014/main" id="{20FFAA34-F36A-4EBE-868B-A9437B9962B2}"/>
              </a:ext>
            </a:extLst>
          </p:cNvPr>
          <p:cNvSpPr>
            <a:spLocks xmlns:a="http://schemas.openxmlformats.org/drawingml/2006/main" noGrp="1"/>
          </p:cNvSpPr>
          <p:nvPr/>
        </p:nvSpPr>
        <p:spPr>
          <a:xfrm xmlns:a="http://schemas.openxmlformats.org/drawingml/2006/main">
            <a:off x="685800" y="30956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82221"/>
                </a:solidFill>
                <a:latin typeface="Arial"/>
                <a:ea typeface="Arial"/>
                <a:cs typeface="Arial"/>
              </a:defRPr>
            </a:defPPr>
            <a:lvl1pPr>
              <a:defRPr sz="2175" b="0">
                <a:solidFill>
                  <a:srgbClr val="182221"/>
                </a:solidFill>
                <a:latin typeface="Arial"/>
                <a:ea typeface="Arial"/>
                <a:cs typeface="Arial"/>
              </a:defRPr>
            </a:lvl1pPr>
            <a:lvl2pPr>
              <a:defRPr sz="2175" b="0">
                <a:solidFill>
                  <a:srgbClr val="182221"/>
                </a:solidFill>
                <a:latin typeface="Arial"/>
                <a:ea typeface="Arial"/>
                <a:cs typeface="Arial"/>
              </a:defRPr>
            </a:lvl2pPr>
            <a:lvl3pPr>
              <a:defRPr sz="2175" b="0">
                <a:solidFill>
                  <a:srgbClr val="182221"/>
                </a:solidFill>
                <a:latin typeface="Arial"/>
                <a:ea typeface="Arial"/>
                <a:cs typeface="Arial"/>
              </a:defRPr>
            </a:lvl3pPr>
            <a:lvl4pPr>
              <a:defRPr sz="2175" b="0">
                <a:solidFill>
                  <a:srgbClr val="182221"/>
                </a:solidFill>
                <a:latin typeface="Arial"/>
                <a:ea typeface="Arial"/>
                <a:cs typeface="Arial"/>
              </a:defRPr>
            </a:lvl4pPr>
            <a:lvl5pPr>
              <a:defRPr sz="2175" b="0">
                <a:solidFill>
                  <a:srgbClr val="182221"/>
                </a:solidFill>
                <a:latin typeface="Arial"/>
                <a:ea typeface="Arial"/>
                <a:cs typeface="Arial"/>
              </a:defRPr>
            </a:lvl5pPr>
            <a:lvl6pPr>
              <a:defRPr sz="2175" b="0">
                <a:solidFill>
                  <a:srgbClr val="182221"/>
                </a:solidFill>
                <a:latin typeface="Arial"/>
                <a:ea typeface="Arial"/>
                <a:cs typeface="Arial"/>
              </a:defRPr>
            </a:lvl6pPr>
            <a:lvl7pPr>
              <a:defRPr sz="2175" b="0">
                <a:solidFill>
                  <a:srgbClr val="182221"/>
                </a:solidFill>
                <a:latin typeface="Arial"/>
                <a:ea typeface="Arial"/>
                <a:cs typeface="Arial"/>
              </a:defRPr>
            </a:lvl7pPr>
            <a:lvl8pPr>
              <a:defRPr sz="2175" b="0">
                <a:solidFill>
                  <a:srgbClr val="182221"/>
                </a:solidFill>
                <a:latin typeface="Arial"/>
                <a:ea typeface="Arial"/>
                <a:cs typeface="Arial"/>
              </a:defRPr>
            </a:lvl8pPr>
            <a:lvl9pPr>
              <a:defRPr sz="2175" b="0">
                <a:solidFill>
                  <a:srgbClr val="182221"/>
                </a:solidFill>
                <a:latin typeface="Arial"/>
                <a:ea typeface="Arial"/>
                <a:cs typeface="Arial"/>
              </a:defRPr>
            </a:lvl9pPr>
          </a:lstStyle>
          <a:p xmlns:a="http://schemas.openxmlformats.org/drawingml/2006/main">
            <a:pPr>
              <a:defRPr sz="2175" b="0">
                <a:solidFill>
                  <a:srgbClr val="182221"/>
                </a:solidFill>
                <a:latin typeface="Arial"/>
                <a:ea typeface="Arial"/>
                <a:cs typeface="Arial"/>
              </a:defRPr>
            </a:pPr>
            <a:r>
              <a:rPr sz="2175" b="0">
                <a:solidFill>
                  <a:srgbClr val="182221"/>
                </a:solidFill>
                <a:latin typeface="Arial"/>
                <a:ea typeface="Arial"/>
                <a:cs typeface="Arial"/>
              </a:rPr>
              <a:t>First submitted component</a:t>
            </a:r>
          </a:p>
        </p:txBody>
      </p:sp>
      <p:sp>
        <p:nvSpPr>
          <p:cNvPr id="4" name="">
            <a:extLst xmlns:a="http://schemas.openxmlformats.org/drawingml/2006/main">
              <a:ext uri="{FF2B5EF4-FFF2-40B4-BE49-F238E27FC236}">
                <a16:creationId xmlns:a16="http://schemas.microsoft.com/office/drawing/2014/main" id="{38F3C037-FB57-42E4-A31E-329461F9D0DE}"/>
              </a:ext>
            </a:extLst>
          </p:cNvPr>
          <p:cNvSpPr>
            <a:spLocks xmlns:a="http://schemas.openxmlformats.org/drawingml/2006/main" noGrp="1"/>
          </p:cNvSpPr>
          <p:nvPr/>
        </p:nvSpPr>
        <p:spPr>
          <a:xfrm xmlns:a="http://schemas.openxmlformats.org/drawingml/2006/main">
            <a:off x="6667500" y="18573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00" b="1">
                <a:solidFill>
                  <a:srgbClr val="0B6B50"/>
                </a:solidFill>
                <a:latin typeface="Arial"/>
                <a:ea typeface="Arial"/>
                <a:cs typeface="Arial"/>
              </a:defRPr>
            </a:defPPr>
            <a:lvl1pPr>
              <a:defRPr sz="5700" b="1">
                <a:solidFill>
                  <a:srgbClr val="0B6B50"/>
                </a:solidFill>
                <a:latin typeface="Arial"/>
                <a:ea typeface="Arial"/>
                <a:cs typeface="Arial"/>
              </a:defRPr>
            </a:lvl1pPr>
            <a:lvl2pPr>
              <a:defRPr sz="5700" b="1">
                <a:solidFill>
                  <a:srgbClr val="0B6B50"/>
                </a:solidFill>
                <a:latin typeface="Arial"/>
                <a:ea typeface="Arial"/>
                <a:cs typeface="Arial"/>
              </a:defRPr>
            </a:lvl2pPr>
            <a:lvl3pPr>
              <a:defRPr sz="5700" b="1">
                <a:solidFill>
                  <a:srgbClr val="0B6B50"/>
                </a:solidFill>
                <a:latin typeface="Arial"/>
                <a:ea typeface="Arial"/>
                <a:cs typeface="Arial"/>
              </a:defRPr>
            </a:lvl3pPr>
            <a:lvl4pPr>
              <a:defRPr sz="5700" b="1">
                <a:solidFill>
                  <a:srgbClr val="0B6B50"/>
                </a:solidFill>
                <a:latin typeface="Arial"/>
                <a:ea typeface="Arial"/>
                <a:cs typeface="Arial"/>
              </a:defRPr>
            </a:lvl4pPr>
            <a:lvl5pPr>
              <a:defRPr sz="5700" b="1">
                <a:solidFill>
                  <a:srgbClr val="0B6B50"/>
                </a:solidFill>
                <a:latin typeface="Arial"/>
                <a:ea typeface="Arial"/>
                <a:cs typeface="Arial"/>
              </a:defRPr>
            </a:lvl5pPr>
            <a:lvl6pPr>
              <a:defRPr sz="5700" b="1">
                <a:solidFill>
                  <a:srgbClr val="0B6B50"/>
                </a:solidFill>
                <a:latin typeface="Arial"/>
                <a:ea typeface="Arial"/>
                <a:cs typeface="Arial"/>
              </a:defRPr>
            </a:lvl6pPr>
            <a:lvl7pPr>
              <a:defRPr sz="5700" b="1">
                <a:solidFill>
                  <a:srgbClr val="0B6B50"/>
                </a:solidFill>
                <a:latin typeface="Arial"/>
                <a:ea typeface="Arial"/>
                <a:cs typeface="Arial"/>
              </a:defRPr>
            </a:lvl7pPr>
            <a:lvl8pPr>
              <a:defRPr sz="5700" b="1">
                <a:solidFill>
                  <a:srgbClr val="0B6B50"/>
                </a:solidFill>
                <a:latin typeface="Arial"/>
                <a:ea typeface="Arial"/>
                <a:cs typeface="Arial"/>
              </a:defRPr>
            </a:lvl8pPr>
            <a:lvl9pPr>
              <a:defRPr sz="5700" b="1">
                <a:solidFill>
                  <a:srgbClr val="0B6B50"/>
                </a:solidFill>
                <a:latin typeface="Arial"/>
                <a:ea typeface="Arial"/>
                <a:cs typeface="Arial"/>
              </a:defRPr>
            </a:lvl9pPr>
          </a:lstStyle>
          <a:p xmlns:a="http://schemas.openxmlformats.org/drawingml/2006/main">
            <a:pPr>
              <a:defRPr sz="5700" b="1">
                <a:solidFill>
                  <a:srgbClr val="0B6B50"/>
                </a:solidFill>
                <a:latin typeface="Arial"/>
                <a:ea typeface="Arial"/>
                <a:cs typeface="Arial"/>
              </a:defRPr>
            </a:pPr>
            <a:r>
              <a:rPr sz="5700" b="1">
                <a:solidFill>
                  <a:srgbClr val="0B6B50"/>
                </a:solidFill>
                <a:latin typeface="Arial"/>
                <a:ea typeface="Arial"/>
                <a:cs typeface="Arial"/>
              </a:rPr>
              <a:t>118 / 118</a:t>
            </a:r>
          </a:p>
        </p:txBody>
      </p:sp>
      <p:sp>
        <p:nvSpPr>
          <p:cNvPr id="5" name="">
            <a:extLst xmlns:a="http://schemas.openxmlformats.org/drawingml/2006/main">
              <a:ext uri="{FF2B5EF4-FFF2-40B4-BE49-F238E27FC236}">
                <a16:creationId xmlns:a16="http://schemas.microsoft.com/office/drawing/2014/main" id="{805E552D-B52D-47D1-8E35-BAE114FB158B}"/>
              </a:ext>
            </a:extLst>
          </p:cNvPr>
          <p:cNvSpPr>
            <a:spLocks xmlns:a="http://schemas.openxmlformats.org/drawingml/2006/main" noGrp="1"/>
          </p:cNvSpPr>
          <p:nvPr/>
        </p:nvSpPr>
        <p:spPr>
          <a:xfrm xmlns:a="http://schemas.openxmlformats.org/drawingml/2006/main">
            <a:off x="6667500" y="3095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82221"/>
                </a:solidFill>
                <a:latin typeface="Arial"/>
                <a:ea typeface="Arial"/>
                <a:cs typeface="Arial"/>
              </a:defRPr>
            </a:defPPr>
            <a:lvl1pPr>
              <a:defRPr sz="2175" b="0">
                <a:solidFill>
                  <a:srgbClr val="182221"/>
                </a:solidFill>
                <a:latin typeface="Arial"/>
                <a:ea typeface="Arial"/>
                <a:cs typeface="Arial"/>
              </a:defRPr>
            </a:lvl1pPr>
            <a:lvl2pPr>
              <a:defRPr sz="2175" b="0">
                <a:solidFill>
                  <a:srgbClr val="182221"/>
                </a:solidFill>
                <a:latin typeface="Arial"/>
                <a:ea typeface="Arial"/>
                <a:cs typeface="Arial"/>
              </a:defRPr>
            </a:lvl2pPr>
            <a:lvl3pPr>
              <a:defRPr sz="2175" b="0">
                <a:solidFill>
                  <a:srgbClr val="182221"/>
                </a:solidFill>
                <a:latin typeface="Arial"/>
                <a:ea typeface="Arial"/>
                <a:cs typeface="Arial"/>
              </a:defRPr>
            </a:lvl3pPr>
            <a:lvl4pPr>
              <a:defRPr sz="2175" b="0">
                <a:solidFill>
                  <a:srgbClr val="182221"/>
                </a:solidFill>
                <a:latin typeface="Arial"/>
                <a:ea typeface="Arial"/>
                <a:cs typeface="Arial"/>
              </a:defRPr>
            </a:lvl4pPr>
            <a:lvl5pPr>
              <a:defRPr sz="2175" b="0">
                <a:solidFill>
                  <a:srgbClr val="182221"/>
                </a:solidFill>
                <a:latin typeface="Arial"/>
                <a:ea typeface="Arial"/>
                <a:cs typeface="Arial"/>
              </a:defRPr>
            </a:lvl5pPr>
            <a:lvl6pPr>
              <a:defRPr sz="2175" b="0">
                <a:solidFill>
                  <a:srgbClr val="182221"/>
                </a:solidFill>
                <a:latin typeface="Arial"/>
                <a:ea typeface="Arial"/>
                <a:cs typeface="Arial"/>
              </a:defRPr>
            </a:lvl6pPr>
            <a:lvl7pPr>
              <a:defRPr sz="2175" b="0">
                <a:solidFill>
                  <a:srgbClr val="182221"/>
                </a:solidFill>
                <a:latin typeface="Arial"/>
                <a:ea typeface="Arial"/>
                <a:cs typeface="Arial"/>
              </a:defRPr>
            </a:lvl7pPr>
            <a:lvl8pPr>
              <a:defRPr sz="2175" b="0">
                <a:solidFill>
                  <a:srgbClr val="182221"/>
                </a:solidFill>
                <a:latin typeface="Arial"/>
                <a:ea typeface="Arial"/>
                <a:cs typeface="Arial"/>
              </a:defRPr>
            </a:lvl8pPr>
            <a:lvl9pPr>
              <a:defRPr sz="2175" b="0">
                <a:solidFill>
                  <a:srgbClr val="182221"/>
                </a:solidFill>
                <a:latin typeface="Arial"/>
                <a:ea typeface="Arial"/>
                <a:cs typeface="Arial"/>
              </a:defRPr>
            </a:lvl9pPr>
          </a:lstStyle>
          <a:p xmlns:a="http://schemas.openxmlformats.org/drawingml/2006/main">
            <a:pPr>
              <a:defRPr sz="2175" b="0">
                <a:solidFill>
                  <a:srgbClr val="182221"/>
                </a:solidFill>
                <a:latin typeface="Arial"/>
                <a:ea typeface="Arial"/>
                <a:cs typeface="Arial"/>
              </a:defRPr>
            </a:pPr>
            <a:r>
              <a:rPr sz="2175" b="0">
                <a:solidFill>
                  <a:srgbClr val="182221"/>
                </a:solidFill>
                <a:latin typeface="Arial"/>
                <a:ea typeface="Arial"/>
                <a:cs typeface="Arial"/>
              </a:rPr>
              <a:t>Accepted + fresh-seed checks</a:t>
            </a:r>
          </a:p>
        </p:txBody>
      </p:sp>
      <p:sp>
        <p:nvSpPr>
          <p:cNvPr id="6" name="">
            <a:extLst xmlns:a="http://schemas.openxmlformats.org/drawingml/2006/main">
              <a:ext uri="{FF2B5EF4-FFF2-40B4-BE49-F238E27FC236}">
                <a16:creationId xmlns:a16="http://schemas.microsoft.com/office/drawing/2014/main" id="{913278FF-E654-4215-9927-AA5D303FB6F9}"/>
              </a:ext>
            </a:extLst>
          </p:cNvPr>
          <p:cNvSpPr>
            <a:spLocks xmlns:a="http://schemas.openxmlformats.org/drawingml/2006/main" noGrp="1"/>
          </p:cNvSpPr>
          <p:nvPr/>
        </p:nvSpPr>
        <p:spPr>
          <a:xfrm xmlns:a="http://schemas.openxmlformats.org/drawingml/2006/main">
            <a:off x="685800" y="45720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82221"/>
                </a:solidFill>
                <a:latin typeface="Arial"/>
                <a:ea typeface="Arial"/>
                <a:cs typeface="Arial"/>
              </a:defRPr>
            </a:defPPr>
            <a:lvl1pPr>
              <a:defRPr sz="2475" b="0">
                <a:solidFill>
                  <a:srgbClr val="182221"/>
                </a:solidFill>
                <a:latin typeface="Arial"/>
                <a:ea typeface="Arial"/>
                <a:cs typeface="Arial"/>
              </a:defRPr>
            </a:lvl1pPr>
            <a:lvl2pPr>
              <a:defRPr sz="2475" b="0">
                <a:solidFill>
                  <a:srgbClr val="182221"/>
                </a:solidFill>
                <a:latin typeface="Arial"/>
                <a:ea typeface="Arial"/>
                <a:cs typeface="Arial"/>
              </a:defRPr>
            </a:lvl2pPr>
            <a:lvl3pPr>
              <a:defRPr sz="2475" b="0">
                <a:solidFill>
                  <a:srgbClr val="182221"/>
                </a:solidFill>
                <a:latin typeface="Arial"/>
                <a:ea typeface="Arial"/>
                <a:cs typeface="Arial"/>
              </a:defRPr>
            </a:lvl3pPr>
            <a:lvl4pPr>
              <a:defRPr sz="2475" b="0">
                <a:solidFill>
                  <a:srgbClr val="182221"/>
                </a:solidFill>
                <a:latin typeface="Arial"/>
                <a:ea typeface="Arial"/>
                <a:cs typeface="Arial"/>
              </a:defRPr>
            </a:lvl4pPr>
            <a:lvl5pPr>
              <a:defRPr sz="2475" b="0">
                <a:solidFill>
                  <a:srgbClr val="182221"/>
                </a:solidFill>
                <a:latin typeface="Arial"/>
                <a:ea typeface="Arial"/>
                <a:cs typeface="Arial"/>
              </a:defRPr>
            </a:lvl5pPr>
            <a:lvl6pPr>
              <a:defRPr sz="2475" b="0">
                <a:solidFill>
                  <a:srgbClr val="182221"/>
                </a:solidFill>
                <a:latin typeface="Arial"/>
                <a:ea typeface="Arial"/>
                <a:cs typeface="Arial"/>
              </a:defRPr>
            </a:lvl6pPr>
            <a:lvl7pPr>
              <a:defRPr sz="2475" b="0">
                <a:solidFill>
                  <a:srgbClr val="182221"/>
                </a:solidFill>
                <a:latin typeface="Arial"/>
                <a:ea typeface="Arial"/>
                <a:cs typeface="Arial"/>
              </a:defRPr>
            </a:lvl7pPr>
            <a:lvl8pPr>
              <a:defRPr sz="2475" b="0">
                <a:solidFill>
                  <a:srgbClr val="182221"/>
                </a:solidFill>
                <a:latin typeface="Arial"/>
                <a:ea typeface="Arial"/>
                <a:cs typeface="Arial"/>
              </a:defRPr>
            </a:lvl8pPr>
            <a:lvl9pPr>
              <a:defRPr sz="2475" b="0">
                <a:solidFill>
                  <a:srgbClr val="182221"/>
                </a:solidFill>
                <a:latin typeface="Arial"/>
                <a:ea typeface="Arial"/>
                <a:cs typeface="Arial"/>
              </a:defRPr>
            </a:lvl9pPr>
          </a:lstStyle>
          <a:p xmlns:a="http://schemas.openxmlformats.org/drawingml/2006/main">
            <a:pPr>
              <a:defRPr sz="2475" b="0">
                <a:solidFill>
                  <a:srgbClr val="182221"/>
                </a:solidFill>
                <a:latin typeface="Arial"/>
                <a:ea typeface="Arial"/>
                <a:cs typeface="Arial"/>
              </a:defRPr>
            </a:pPr>
            <a:r>
              <a:rPr sz="2475" b="0">
                <a:solidFill>
                  <a:srgbClr val="182221"/>
                </a:solidFill>
                <a:latin typeface="Arial"/>
                <a:ea typeface="Arial"/>
                <a:cs typeface="Arial"/>
              </a:rPr>
              <a:t>An empty SQL operation failed the contract.</a:t>
            </a:r>
          </a:p>
          <a:p xmlns:a="http://schemas.openxmlformats.org/drawingml/2006/main">
            <a:pPr>
              <a:defRPr sz="2475" b="0">
                <a:solidFill>
                  <a:srgbClr val="182221"/>
                </a:solidFill>
                <a:latin typeface="Arial"/>
                <a:ea typeface="Arial"/>
                <a:cs typeface="Arial"/>
              </a:defRPr>
            </a:pPr>
            <a:r>
              <a:rPr sz="2475" b="0">
                <a:solidFill>
                  <a:srgbClr val="182221"/>
                </a:solidFill>
                <a:latin typeface="Arial"/>
                <a:ea typeface="Arial"/>
                <a:cs typeface="Arial"/>
              </a:rPr>
              <a:t>The gate required a repair before GitHub delivery.</a:t>
            </a:r>
          </a:p>
        </p:txBody>
      </p:sp>
      <p:sp>
        <p:nvSpPr>
          <p:cNvPr id="7" name="">
            <a:extLst xmlns:a="http://schemas.openxmlformats.org/drawingml/2006/main">
              <a:ext uri="{FF2B5EF4-FFF2-40B4-BE49-F238E27FC236}">
                <a16:creationId xmlns:a16="http://schemas.microsoft.com/office/drawing/2014/main" id="{3AB0E979-7524-45A7-AEE0-EEFCD28053AA}"/>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9635E"/>
                </a:solidFill>
                <a:latin typeface="Arial"/>
                <a:ea typeface="Arial"/>
                <a:cs typeface="Arial"/>
              </a:defRPr>
            </a:defPPr>
            <a:lvl1pPr>
              <a:defRPr sz="1800" b="0">
                <a:solidFill>
                  <a:srgbClr val="59635E"/>
                </a:solidFill>
                <a:latin typeface="Arial"/>
                <a:ea typeface="Arial"/>
                <a:cs typeface="Arial"/>
              </a:defRPr>
            </a:lvl1pPr>
            <a:lvl2pPr>
              <a:defRPr sz="1800" b="0">
                <a:solidFill>
                  <a:srgbClr val="59635E"/>
                </a:solidFill>
                <a:latin typeface="Arial"/>
                <a:ea typeface="Arial"/>
                <a:cs typeface="Arial"/>
              </a:defRPr>
            </a:lvl2pPr>
            <a:lvl3pPr>
              <a:defRPr sz="1800" b="0">
                <a:solidFill>
                  <a:srgbClr val="59635E"/>
                </a:solidFill>
                <a:latin typeface="Arial"/>
                <a:ea typeface="Arial"/>
                <a:cs typeface="Arial"/>
              </a:defRPr>
            </a:lvl3pPr>
            <a:lvl4pPr>
              <a:defRPr sz="1800" b="0">
                <a:solidFill>
                  <a:srgbClr val="59635E"/>
                </a:solidFill>
                <a:latin typeface="Arial"/>
                <a:ea typeface="Arial"/>
                <a:cs typeface="Arial"/>
              </a:defRPr>
            </a:lvl4pPr>
            <a:lvl5pPr>
              <a:defRPr sz="1800" b="0">
                <a:solidFill>
                  <a:srgbClr val="59635E"/>
                </a:solidFill>
                <a:latin typeface="Arial"/>
                <a:ea typeface="Arial"/>
                <a:cs typeface="Arial"/>
              </a:defRPr>
            </a:lvl5pPr>
            <a:lvl6pPr>
              <a:defRPr sz="1800" b="0">
                <a:solidFill>
                  <a:srgbClr val="59635E"/>
                </a:solidFill>
                <a:latin typeface="Arial"/>
                <a:ea typeface="Arial"/>
                <a:cs typeface="Arial"/>
              </a:defRPr>
            </a:lvl6pPr>
            <a:lvl7pPr>
              <a:defRPr sz="1800" b="0">
                <a:solidFill>
                  <a:srgbClr val="59635E"/>
                </a:solidFill>
                <a:latin typeface="Arial"/>
                <a:ea typeface="Arial"/>
                <a:cs typeface="Arial"/>
              </a:defRPr>
            </a:lvl7pPr>
            <a:lvl8pPr>
              <a:defRPr sz="1800" b="0">
                <a:solidFill>
                  <a:srgbClr val="59635E"/>
                </a:solidFill>
                <a:latin typeface="Arial"/>
                <a:ea typeface="Arial"/>
                <a:cs typeface="Arial"/>
              </a:defRPr>
            </a:lvl8pPr>
            <a:lvl9pPr>
              <a:defRPr sz="1800" b="0">
                <a:solidFill>
                  <a:srgbClr val="59635E"/>
                </a:solidFill>
                <a:latin typeface="Arial"/>
                <a:ea typeface="Arial"/>
                <a:cs typeface="Arial"/>
              </a:defRPr>
            </a:lvl9pPr>
          </a:lstStyle>
          <a:p xmlns:a="http://schemas.openxmlformats.org/drawingml/2006/main">
            <a:pPr>
              <a:defRPr sz="1800" b="0">
                <a:solidFill>
                  <a:srgbClr val="59635E"/>
                </a:solidFill>
                <a:latin typeface="Arial"/>
                <a:ea typeface="Arial"/>
                <a:cs typeface="Arial"/>
              </a:defRPr>
            </a:pPr>
            <a:r>
              <a:rPr sz="1800" b="0">
                <a:solidFill>
                  <a:srgbClr val="59635E"/>
                </a:solidFill>
                <a:latin typeface="Arial"/>
                <a:ea typeface="Arial"/>
                <a:cs typeface="Arial"/>
              </a:rPr>
              <a:t>54 target tests passed · GitHub PR and CI · 4 real Crusoe questions</a:t>
            </a:r>
          </a:p>
        </p:txBody>
      </p:sp>
    </p:spTree>
    <p:extLst>
      <p:ext uri="{BB962C8B-B14F-4D97-AF65-F5344CB8AC3E}">
        <p14:creationId xmlns:p14="http://schemas.microsoft.com/office/powerpoint/2010/main" val="384776578"/>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34DFC3-2647-4FC4-A666-07F5980FD60A}"/>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Evidence · MASS did not beat the bare model</a:t>
            </a:r>
          </a:p>
        </p:txBody>
      </p:sp>
      <p:graphicFrame>
        <p:nvGraphicFramePr>
          <p:cNvPr id="2" name="">
            <a:extLst xmlns:a="http://schemas.openxmlformats.org/drawingml/2006/main">
              <a:ext uri="{FF2B5EF4-FFF2-40B4-BE49-F238E27FC236}">
                <a16:creationId xmlns:a16="http://schemas.microsoft.com/office/drawing/2014/main" id="{09ED530C-E699-49B6-92FE-A842C6881A32}"/>
              </a:ext>
            </a:extLst>
          </p:cNvPr>
          <p:cNvGraphicFramePr/>
          <p:nvPr/>
        </p:nvGraphicFramePr>
        <p:xfrm>
          <a:off xmlns:a="http://schemas.openxmlformats.org/drawingml/2006/main" x="685800" y="1619250"/>
          <a:ext xmlns:a="http://schemas.openxmlformats.org/drawingml/2006/main" cx="10820400" cy="3095625"/>
        </p:xfrm>
        <a:graphic xmlns:a="http://schemas.openxmlformats.org/drawingml/2006/main">
          <a:graphicData uri="http://schemas.openxmlformats.org/drawingml/2006/table">
            <a:tbl>
              <a:tblPr firstRow="1" bandRow="0"/>
              <a:tblGrid>
                <a:gridCol w="3295650"/>
                <a:gridCol w="2190750"/>
                <a:gridCol w="1238250"/>
                <a:gridCol w="2190750"/>
                <a:gridCol w="1905000"/>
              </a:tblGrid>
              <a:tr h="773906">
                <a:tc>
                  <a:txBody>
                    <a:bodyPr/>
                    <a:lstStyle/>
                    <a:p>
                      <a:r>
                        <a:rPr sz="1875" b="1">
                          <a:solidFill>
                            <a:srgbClr val="FFFFFF"/>
                          </a:solidFill>
                          <a:latin typeface="Arial"/>
                          <a:ea typeface="Arial"/>
                          <a:cs typeface="Arial"/>
                        </a:rPr>
                        <a:t>Public SQL workflow</a:t>
                      </a:r>
                    </a:p>
                  </a:txBody>
                  <a:tcPr marL="152400" marR="152400" marT="133350" marB="133350" anchor="ctr">
                    <a:lnL w="9525">
                      <a:solidFill>
                        <a:srgbClr val="CED3CB"/>
                      </a:solidFill>
                      <a:prstDash val="solid"/>
                    </a:lnL>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875" b="1">
                          <a:solidFill>
                            <a:srgbClr val="FFFFFF"/>
                          </a:solidFill>
                          <a:latin typeface="Arial"/>
                          <a:ea typeface="Arial"/>
                          <a:cs typeface="Arial"/>
                        </a:rPr>
                        <a:t>Development</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875" b="1">
                          <a:solidFill>
                            <a:srgbClr val="FFFFFF"/>
                          </a:solidFill>
                          <a:latin typeface="Arial"/>
                          <a:ea typeface="Arial"/>
                          <a:cs typeface="Arial"/>
                        </a:rPr>
                        <a:t>Calls</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875" b="1">
                          <a:solidFill>
                            <a:srgbClr val="FFFFFF"/>
                          </a:solidFill>
                          <a:latin typeface="Arial"/>
                          <a:ea typeface="Arial"/>
                          <a:cs typeface="Arial"/>
                        </a:rPr>
                        <a:t>Tokens</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875" b="1">
                          <a:solidFill>
                            <a:srgbClr val="FFFFFF"/>
                          </a:solidFill>
                          <a:latin typeface="Arial"/>
                          <a:ea typeface="Arial"/>
                          <a:cs typeface="Arial"/>
                        </a:rPr>
                        <a:t>Seconds</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r>
              <a:tr h="773906">
                <a:tc>
                  <a:txBody>
                    <a:bodyPr/>
                    <a:lstStyle/>
                    <a:p>
                      <a:r>
                        <a:rPr sz="1875">
                          <a:solidFill>
                            <a:srgbClr val="182221"/>
                          </a:solidFill>
                          <a:latin typeface="Arial"/>
                          <a:ea typeface="Arial"/>
                          <a:cs typeface="Arial"/>
                        </a:rPr>
                        <a:t>One-shot baseline</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12 / 12</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4,544</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13.92</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r h="773906">
                <a:tc>
                  <a:txBody>
                    <a:bodyPr/>
                    <a:lstStyle/>
                    <a:p>
                      <a:r>
                        <a:rPr sz="1875">
                          <a:solidFill>
                            <a:srgbClr val="182221"/>
                          </a:solidFill>
                          <a:latin typeface="Arial"/>
                          <a:ea typeface="Arial"/>
                          <a:cs typeface="Arial"/>
                        </a:rPr>
                        <a:t>Initial Hermes v0</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11 / 12</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48,451</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182.71</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r h="773906">
                <a:tc>
                  <a:txBody>
                    <a:bodyPr/>
                    <a:lstStyle/>
                    <a:p>
                      <a:r>
                        <a:rPr sz="1875">
                          <a:solidFill>
                            <a:srgbClr val="182221"/>
                          </a:solidFill>
                          <a:latin typeface="Arial"/>
                          <a:ea typeface="Arial"/>
                          <a:cs typeface="Arial"/>
                        </a:rPr>
                        <a:t>MASS candidate v1</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11 / 12</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22</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68,667</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875">
                          <a:solidFill>
                            <a:srgbClr val="182221"/>
                          </a:solidFill>
                          <a:latin typeface="Arial"/>
                          <a:ea typeface="Arial"/>
                          <a:cs typeface="Arial"/>
                        </a:rPr>
                        <a:t>315.38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6414D726-3EED-4BA2-9FC0-0BDC8C1D0D50}"/>
              </a:ext>
            </a:extLst>
          </p:cNvPr>
          <p:cNvSpPr>
            <a:spLocks xmlns:a="http://schemas.openxmlformats.org/drawingml/2006/main" noGrp="1"/>
          </p:cNvSpPr>
          <p:nvPr/>
        </p:nvSpPr>
        <p:spPr>
          <a:xfrm xmlns:a="http://schemas.openxmlformats.org/drawingml/2006/main">
            <a:off x="685800" y="5143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182221"/>
                </a:solidFill>
                <a:latin typeface="Arial"/>
                <a:ea typeface="Arial"/>
                <a:cs typeface="Arial"/>
              </a:defRPr>
            </a:defPPr>
            <a:lvl1pPr>
              <a:defRPr sz="2925" b="1">
                <a:solidFill>
                  <a:srgbClr val="182221"/>
                </a:solidFill>
                <a:latin typeface="Arial"/>
                <a:ea typeface="Arial"/>
                <a:cs typeface="Arial"/>
              </a:defRPr>
            </a:lvl1pPr>
            <a:lvl2pPr>
              <a:defRPr sz="2925" b="1">
                <a:solidFill>
                  <a:srgbClr val="182221"/>
                </a:solidFill>
                <a:latin typeface="Arial"/>
                <a:ea typeface="Arial"/>
                <a:cs typeface="Arial"/>
              </a:defRPr>
            </a:lvl2pPr>
            <a:lvl3pPr>
              <a:defRPr sz="2925" b="1">
                <a:solidFill>
                  <a:srgbClr val="182221"/>
                </a:solidFill>
                <a:latin typeface="Arial"/>
                <a:ea typeface="Arial"/>
                <a:cs typeface="Arial"/>
              </a:defRPr>
            </a:lvl3pPr>
            <a:lvl4pPr>
              <a:defRPr sz="2925" b="1">
                <a:solidFill>
                  <a:srgbClr val="182221"/>
                </a:solidFill>
                <a:latin typeface="Arial"/>
                <a:ea typeface="Arial"/>
                <a:cs typeface="Arial"/>
              </a:defRPr>
            </a:lvl4pPr>
            <a:lvl5pPr>
              <a:defRPr sz="2925" b="1">
                <a:solidFill>
                  <a:srgbClr val="182221"/>
                </a:solidFill>
                <a:latin typeface="Arial"/>
                <a:ea typeface="Arial"/>
                <a:cs typeface="Arial"/>
              </a:defRPr>
            </a:lvl5pPr>
            <a:lvl6pPr>
              <a:defRPr sz="2925" b="1">
                <a:solidFill>
                  <a:srgbClr val="182221"/>
                </a:solidFill>
                <a:latin typeface="Arial"/>
                <a:ea typeface="Arial"/>
                <a:cs typeface="Arial"/>
              </a:defRPr>
            </a:lvl6pPr>
            <a:lvl7pPr>
              <a:defRPr sz="2925" b="1">
                <a:solidFill>
                  <a:srgbClr val="182221"/>
                </a:solidFill>
                <a:latin typeface="Arial"/>
                <a:ea typeface="Arial"/>
                <a:cs typeface="Arial"/>
              </a:defRPr>
            </a:lvl7pPr>
            <a:lvl8pPr>
              <a:defRPr sz="2925" b="1">
                <a:solidFill>
                  <a:srgbClr val="182221"/>
                </a:solidFill>
                <a:latin typeface="Arial"/>
                <a:ea typeface="Arial"/>
                <a:cs typeface="Arial"/>
              </a:defRPr>
            </a:lvl8pPr>
            <a:lvl9pPr>
              <a:defRPr sz="2925" b="1">
                <a:solidFill>
                  <a:srgbClr val="182221"/>
                </a:solidFill>
                <a:latin typeface="Arial"/>
                <a:ea typeface="Arial"/>
                <a:cs typeface="Arial"/>
              </a:defRPr>
            </a:lvl9pPr>
          </a:lstStyle>
          <a:p xmlns:a="http://schemas.openxmlformats.org/drawingml/2006/main">
            <a:pPr>
              <a:defRPr sz="2925" b="1">
                <a:solidFill>
                  <a:srgbClr val="182221"/>
                </a:solidFill>
                <a:latin typeface="Arial"/>
                <a:ea typeface="Arial"/>
                <a:cs typeface="Arial"/>
              </a:defRPr>
            </a:pPr>
            <a:r>
              <a:rPr sz="2925" b="1">
                <a:solidFill>
                  <a:srgbClr val="182221"/>
                </a:solidFill>
                <a:latin typeface="Arial"/>
                <a:ea typeface="Arial"/>
                <a:cs typeface="Arial"/>
              </a:rPr>
              <a:t>Retained v0: 3 / 6 held-out questions passed</a:t>
            </a:r>
          </a:p>
        </p:txBody>
      </p:sp>
      <p:sp>
        <p:nvSpPr>
          <p:cNvPr id="4" name="">
            <a:extLst xmlns:a="http://schemas.openxmlformats.org/drawingml/2006/main">
              <a:ext uri="{FF2B5EF4-FFF2-40B4-BE49-F238E27FC236}">
                <a16:creationId xmlns:a16="http://schemas.microsoft.com/office/drawing/2014/main" id="{1AD87D1C-7153-44BE-9102-C624085EEEF8}"/>
              </a:ext>
            </a:extLst>
          </p:cNvPr>
          <p:cNvSpPr>
            <a:spLocks xmlns:a="http://schemas.openxmlformats.org/drawingml/2006/main" noGrp="1"/>
          </p:cNvSpPr>
          <p:nvPr/>
        </p:nvSpPr>
        <p:spPr>
          <a:xfrm xmlns:a="http://schemas.openxmlformats.org/drawingml/2006/main">
            <a:off x="685800" y="604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35E"/>
                </a:solidFill>
                <a:latin typeface="Arial"/>
                <a:ea typeface="Arial"/>
                <a:cs typeface="Arial"/>
              </a:defRPr>
            </a:defPPr>
            <a:lvl1pPr>
              <a:defRPr sz="1725" b="0">
                <a:solidFill>
                  <a:srgbClr val="59635E"/>
                </a:solidFill>
                <a:latin typeface="Arial"/>
                <a:ea typeface="Arial"/>
                <a:cs typeface="Arial"/>
              </a:defRPr>
            </a:lvl1pPr>
            <a:lvl2pPr>
              <a:defRPr sz="1725" b="0">
                <a:solidFill>
                  <a:srgbClr val="59635E"/>
                </a:solidFill>
                <a:latin typeface="Arial"/>
                <a:ea typeface="Arial"/>
                <a:cs typeface="Arial"/>
              </a:defRPr>
            </a:lvl2pPr>
            <a:lvl3pPr>
              <a:defRPr sz="1725" b="0">
                <a:solidFill>
                  <a:srgbClr val="59635E"/>
                </a:solidFill>
                <a:latin typeface="Arial"/>
                <a:ea typeface="Arial"/>
                <a:cs typeface="Arial"/>
              </a:defRPr>
            </a:lvl3pPr>
            <a:lvl4pPr>
              <a:defRPr sz="1725" b="0">
                <a:solidFill>
                  <a:srgbClr val="59635E"/>
                </a:solidFill>
                <a:latin typeface="Arial"/>
                <a:ea typeface="Arial"/>
                <a:cs typeface="Arial"/>
              </a:defRPr>
            </a:lvl4pPr>
            <a:lvl5pPr>
              <a:defRPr sz="1725" b="0">
                <a:solidFill>
                  <a:srgbClr val="59635E"/>
                </a:solidFill>
                <a:latin typeface="Arial"/>
                <a:ea typeface="Arial"/>
                <a:cs typeface="Arial"/>
              </a:defRPr>
            </a:lvl5pPr>
            <a:lvl6pPr>
              <a:defRPr sz="1725" b="0">
                <a:solidFill>
                  <a:srgbClr val="59635E"/>
                </a:solidFill>
                <a:latin typeface="Arial"/>
                <a:ea typeface="Arial"/>
                <a:cs typeface="Arial"/>
              </a:defRPr>
            </a:lvl6pPr>
            <a:lvl7pPr>
              <a:defRPr sz="1725" b="0">
                <a:solidFill>
                  <a:srgbClr val="59635E"/>
                </a:solidFill>
                <a:latin typeface="Arial"/>
                <a:ea typeface="Arial"/>
                <a:cs typeface="Arial"/>
              </a:defRPr>
            </a:lvl7pPr>
            <a:lvl8pPr>
              <a:defRPr sz="1725" b="0">
                <a:solidFill>
                  <a:srgbClr val="59635E"/>
                </a:solidFill>
                <a:latin typeface="Arial"/>
                <a:ea typeface="Arial"/>
                <a:cs typeface="Arial"/>
              </a:defRPr>
            </a:lvl8pPr>
            <a:lvl9pPr>
              <a:defRPr sz="1725" b="0">
                <a:solidFill>
                  <a:srgbClr val="59635E"/>
                </a:solidFill>
                <a:latin typeface="Arial"/>
                <a:ea typeface="Arial"/>
                <a:cs typeface="Arial"/>
              </a:defRPr>
            </a:lvl9pPr>
          </a:lstStyle>
          <a:p xmlns:a="http://schemas.openxmlformats.org/drawingml/2006/main">
            <a:pPr>
              <a:defRPr sz="1725" b="0">
                <a:solidFill>
                  <a:srgbClr val="59635E"/>
                </a:solidFill>
                <a:latin typeface="Arial"/>
                <a:ea typeface="Arial"/>
                <a:cs typeface="Arial"/>
              </a:defRPr>
            </a:pPr>
            <a:r>
              <a:rPr sz="1725" b="0">
                <a:solidFill>
                  <a:srgbClr val="59635E"/>
                </a:solidFill>
                <a:latin typeface="Arial"/>
                <a:ea typeface="Arial"/>
                <a:cs typeface="Arial"/>
              </a:rPr>
              <a:t>Baseline held-out performance was not evaluated. No accuracy gain is established.</a:t>
            </a:r>
          </a:p>
        </p:txBody>
      </p:sp>
    </p:spTree>
    <p:extLst>
      <p:ext uri="{BB962C8B-B14F-4D97-AF65-F5344CB8AC3E}">
        <p14:creationId xmlns:p14="http://schemas.microsoft.com/office/powerpoint/2010/main" val="1212335660"/>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DADF6C-7D09-44A6-97BF-CB3FB5054299}"/>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Evidence · Verified answers trained a 9B student</a:t>
            </a:r>
          </a:p>
        </p:txBody>
      </p:sp>
      <p:sp>
        <p:nvSpPr>
          <p:cNvPr id="2" name="">
            <a:extLst xmlns:a="http://schemas.openxmlformats.org/drawingml/2006/main">
              <a:ext uri="{FF2B5EF4-FFF2-40B4-BE49-F238E27FC236}">
                <a16:creationId xmlns:a16="http://schemas.microsoft.com/office/drawing/2014/main" id="{7F6D1CE9-0EF5-4C4D-9706-D7E1457DC907}"/>
              </a:ext>
            </a:extLst>
          </p:cNvPr>
          <p:cNvSpPr>
            <a:spLocks xmlns:a="http://schemas.openxmlformats.org/drawingml/2006/main" noGrp="1"/>
          </p:cNvSpPr>
          <p:nvPr/>
        </p:nvSpPr>
        <p:spPr>
          <a:xfrm xmlns:a="http://schemas.openxmlformats.org/drawingml/2006/main">
            <a:off x="685800" y="17621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350" b="1">
                <a:solidFill>
                  <a:srgbClr val="0B6B50"/>
                </a:solidFill>
                <a:latin typeface="Arial"/>
                <a:ea typeface="Arial"/>
                <a:cs typeface="Arial"/>
              </a:defRPr>
            </a:defPPr>
            <a:lvl1pPr>
              <a:defRPr sz="4350" b="1">
                <a:solidFill>
                  <a:srgbClr val="0B6B50"/>
                </a:solidFill>
                <a:latin typeface="Arial"/>
                <a:ea typeface="Arial"/>
                <a:cs typeface="Arial"/>
              </a:defRPr>
            </a:lvl1pPr>
            <a:lvl2pPr>
              <a:defRPr sz="4350" b="1">
                <a:solidFill>
                  <a:srgbClr val="0B6B50"/>
                </a:solidFill>
                <a:latin typeface="Arial"/>
                <a:ea typeface="Arial"/>
                <a:cs typeface="Arial"/>
              </a:defRPr>
            </a:lvl2pPr>
            <a:lvl3pPr>
              <a:defRPr sz="4350" b="1">
                <a:solidFill>
                  <a:srgbClr val="0B6B50"/>
                </a:solidFill>
                <a:latin typeface="Arial"/>
                <a:ea typeface="Arial"/>
                <a:cs typeface="Arial"/>
              </a:defRPr>
            </a:lvl3pPr>
            <a:lvl4pPr>
              <a:defRPr sz="4350" b="1">
                <a:solidFill>
                  <a:srgbClr val="0B6B50"/>
                </a:solidFill>
                <a:latin typeface="Arial"/>
                <a:ea typeface="Arial"/>
                <a:cs typeface="Arial"/>
              </a:defRPr>
            </a:lvl4pPr>
            <a:lvl5pPr>
              <a:defRPr sz="4350" b="1">
                <a:solidFill>
                  <a:srgbClr val="0B6B50"/>
                </a:solidFill>
                <a:latin typeface="Arial"/>
                <a:ea typeface="Arial"/>
                <a:cs typeface="Arial"/>
              </a:defRPr>
            </a:lvl5pPr>
            <a:lvl6pPr>
              <a:defRPr sz="4350" b="1">
                <a:solidFill>
                  <a:srgbClr val="0B6B50"/>
                </a:solidFill>
                <a:latin typeface="Arial"/>
                <a:ea typeface="Arial"/>
                <a:cs typeface="Arial"/>
              </a:defRPr>
            </a:lvl6pPr>
            <a:lvl7pPr>
              <a:defRPr sz="4350" b="1">
                <a:solidFill>
                  <a:srgbClr val="0B6B50"/>
                </a:solidFill>
                <a:latin typeface="Arial"/>
                <a:ea typeface="Arial"/>
                <a:cs typeface="Arial"/>
              </a:defRPr>
            </a:lvl7pPr>
            <a:lvl8pPr>
              <a:defRPr sz="4350" b="1">
                <a:solidFill>
                  <a:srgbClr val="0B6B50"/>
                </a:solidFill>
                <a:latin typeface="Arial"/>
                <a:ea typeface="Arial"/>
                <a:cs typeface="Arial"/>
              </a:defRPr>
            </a:lvl8pPr>
            <a:lvl9pPr>
              <a:defRPr sz="4350" b="1">
                <a:solidFill>
                  <a:srgbClr val="0B6B50"/>
                </a:solidFill>
                <a:latin typeface="Arial"/>
                <a:ea typeface="Arial"/>
                <a:cs typeface="Arial"/>
              </a:defRPr>
            </a:lvl9pPr>
          </a:lstStyle>
          <a:p xmlns:a="http://schemas.openxmlformats.org/drawingml/2006/main">
            <a:pPr>
              <a:defRPr sz="4350" b="1">
                <a:solidFill>
                  <a:srgbClr val="0B6B50"/>
                </a:solidFill>
                <a:latin typeface="Arial"/>
                <a:ea typeface="Arial"/>
                <a:cs typeface="Arial"/>
              </a:defRPr>
            </a:pPr>
            <a:r>
              <a:rPr sz="4350" b="1">
                <a:solidFill>
                  <a:srgbClr val="0B6B50"/>
                </a:solidFill>
                <a:latin typeface="Arial"/>
                <a:ea typeface="Arial"/>
                <a:cs typeface="Arial"/>
              </a:rPr>
              <a:t>Training succeeded</a:t>
            </a:r>
          </a:p>
        </p:txBody>
      </p:sp>
      <p:sp>
        <p:nvSpPr>
          <p:cNvPr id="3" name="">
            <a:extLst xmlns:a="http://schemas.openxmlformats.org/drawingml/2006/main">
              <a:ext uri="{FF2B5EF4-FFF2-40B4-BE49-F238E27FC236}">
                <a16:creationId xmlns:a16="http://schemas.microsoft.com/office/drawing/2014/main" id="{32968063-081B-4129-86D8-EF4F97300659}"/>
              </a:ext>
            </a:extLst>
          </p:cNvPr>
          <p:cNvSpPr>
            <a:spLocks xmlns:a="http://schemas.openxmlformats.org/drawingml/2006/main" noGrp="1"/>
          </p:cNvSpPr>
          <p:nvPr/>
        </p:nvSpPr>
        <p:spPr>
          <a:xfrm xmlns:a="http://schemas.openxmlformats.org/drawingml/2006/main">
            <a:off x="685800" y="300037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82221"/>
                </a:solidFill>
                <a:latin typeface="Arial"/>
                <a:ea typeface="Arial"/>
                <a:cs typeface="Arial"/>
              </a:defRPr>
            </a:defPPr>
            <a:lvl1pPr>
              <a:defRPr sz="3225" b="1">
                <a:solidFill>
                  <a:srgbClr val="182221"/>
                </a:solidFill>
                <a:latin typeface="Arial"/>
                <a:ea typeface="Arial"/>
                <a:cs typeface="Arial"/>
              </a:defRPr>
            </a:lvl1pPr>
            <a:lvl2pPr>
              <a:defRPr sz="3225" b="1">
                <a:solidFill>
                  <a:srgbClr val="182221"/>
                </a:solidFill>
                <a:latin typeface="Arial"/>
                <a:ea typeface="Arial"/>
                <a:cs typeface="Arial"/>
              </a:defRPr>
            </a:lvl2pPr>
            <a:lvl3pPr>
              <a:defRPr sz="3225" b="1">
                <a:solidFill>
                  <a:srgbClr val="182221"/>
                </a:solidFill>
                <a:latin typeface="Arial"/>
                <a:ea typeface="Arial"/>
                <a:cs typeface="Arial"/>
              </a:defRPr>
            </a:lvl3pPr>
            <a:lvl4pPr>
              <a:defRPr sz="3225" b="1">
                <a:solidFill>
                  <a:srgbClr val="182221"/>
                </a:solidFill>
                <a:latin typeface="Arial"/>
                <a:ea typeface="Arial"/>
                <a:cs typeface="Arial"/>
              </a:defRPr>
            </a:lvl4pPr>
            <a:lvl5pPr>
              <a:defRPr sz="3225" b="1">
                <a:solidFill>
                  <a:srgbClr val="182221"/>
                </a:solidFill>
                <a:latin typeface="Arial"/>
                <a:ea typeface="Arial"/>
                <a:cs typeface="Arial"/>
              </a:defRPr>
            </a:lvl5pPr>
            <a:lvl6pPr>
              <a:defRPr sz="3225" b="1">
                <a:solidFill>
                  <a:srgbClr val="182221"/>
                </a:solidFill>
                <a:latin typeface="Arial"/>
                <a:ea typeface="Arial"/>
                <a:cs typeface="Arial"/>
              </a:defRPr>
            </a:lvl6pPr>
            <a:lvl7pPr>
              <a:defRPr sz="3225" b="1">
                <a:solidFill>
                  <a:srgbClr val="182221"/>
                </a:solidFill>
                <a:latin typeface="Arial"/>
                <a:ea typeface="Arial"/>
                <a:cs typeface="Arial"/>
              </a:defRPr>
            </a:lvl7pPr>
            <a:lvl8pPr>
              <a:defRPr sz="3225" b="1">
                <a:solidFill>
                  <a:srgbClr val="182221"/>
                </a:solidFill>
                <a:latin typeface="Arial"/>
                <a:ea typeface="Arial"/>
                <a:cs typeface="Arial"/>
              </a:defRPr>
            </a:lvl8pPr>
            <a:lvl9pPr>
              <a:defRPr sz="3225" b="1">
                <a:solidFill>
                  <a:srgbClr val="182221"/>
                </a:solidFill>
                <a:latin typeface="Arial"/>
                <a:ea typeface="Arial"/>
                <a:cs typeface="Arial"/>
              </a:defRPr>
            </a:lvl9pPr>
          </a:lstStyle>
          <a:p xmlns:a="http://schemas.openxmlformats.org/drawingml/2006/main">
            <a:pPr>
              <a:defRPr sz="3225" b="1">
                <a:solidFill>
                  <a:srgbClr val="182221"/>
                </a:solidFill>
                <a:latin typeface="Arial"/>
                <a:ea typeface="Arial"/>
                <a:cs typeface="Arial"/>
              </a:defRPr>
            </a:pPr>
            <a:r>
              <a:rPr sz="3225" b="1">
                <a:solidFill>
                  <a:srgbClr val="182221"/>
                </a:solidFill>
                <a:latin typeface="Arial"/>
                <a:ea typeface="Arial"/>
                <a:cs typeface="Arial"/>
              </a:rPr>
              <a:t>Qwen3.5-9B</a:t>
            </a:r>
          </a:p>
        </p:txBody>
      </p:sp>
      <p:sp>
        <p:nvSpPr>
          <p:cNvPr id="4" name="">
            <a:extLst xmlns:a="http://schemas.openxmlformats.org/drawingml/2006/main">
              <a:ext uri="{FF2B5EF4-FFF2-40B4-BE49-F238E27FC236}">
                <a16:creationId xmlns:a16="http://schemas.microsoft.com/office/drawing/2014/main" id="{7C4BA5DA-CF82-42BC-900A-5DB197C81F35}"/>
              </a:ext>
            </a:extLst>
          </p:cNvPr>
          <p:cNvSpPr>
            <a:spLocks xmlns:a="http://schemas.openxmlformats.org/drawingml/2006/main" noGrp="1"/>
          </p:cNvSpPr>
          <p:nvPr/>
        </p:nvSpPr>
        <p:spPr>
          <a:xfrm xmlns:a="http://schemas.openxmlformats.org/drawingml/2006/main">
            <a:off x="685800" y="4000500"/>
            <a:ext cx="571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82221"/>
                </a:solidFill>
                <a:latin typeface="Arial"/>
                <a:ea typeface="Arial"/>
                <a:cs typeface="Arial"/>
              </a:defRPr>
            </a:defPPr>
            <a:lvl1pPr>
              <a:defRPr sz="2325" b="0">
                <a:solidFill>
                  <a:srgbClr val="182221"/>
                </a:solidFill>
                <a:latin typeface="Arial"/>
                <a:ea typeface="Arial"/>
                <a:cs typeface="Arial"/>
              </a:defRPr>
            </a:lvl1pPr>
            <a:lvl2pPr>
              <a:defRPr sz="2325" b="0">
                <a:solidFill>
                  <a:srgbClr val="182221"/>
                </a:solidFill>
                <a:latin typeface="Arial"/>
                <a:ea typeface="Arial"/>
                <a:cs typeface="Arial"/>
              </a:defRPr>
            </a:lvl2pPr>
            <a:lvl3pPr>
              <a:defRPr sz="2325" b="0">
                <a:solidFill>
                  <a:srgbClr val="182221"/>
                </a:solidFill>
                <a:latin typeface="Arial"/>
                <a:ea typeface="Arial"/>
                <a:cs typeface="Arial"/>
              </a:defRPr>
            </a:lvl3pPr>
            <a:lvl4pPr>
              <a:defRPr sz="2325" b="0">
                <a:solidFill>
                  <a:srgbClr val="182221"/>
                </a:solidFill>
                <a:latin typeface="Arial"/>
                <a:ea typeface="Arial"/>
                <a:cs typeface="Arial"/>
              </a:defRPr>
            </a:lvl4pPr>
            <a:lvl5pPr>
              <a:defRPr sz="2325" b="0">
                <a:solidFill>
                  <a:srgbClr val="182221"/>
                </a:solidFill>
                <a:latin typeface="Arial"/>
                <a:ea typeface="Arial"/>
                <a:cs typeface="Arial"/>
              </a:defRPr>
            </a:lvl5pPr>
            <a:lvl6pPr>
              <a:defRPr sz="2325" b="0">
                <a:solidFill>
                  <a:srgbClr val="182221"/>
                </a:solidFill>
                <a:latin typeface="Arial"/>
                <a:ea typeface="Arial"/>
                <a:cs typeface="Arial"/>
              </a:defRPr>
            </a:lvl6pPr>
            <a:lvl7pPr>
              <a:defRPr sz="2325" b="0">
                <a:solidFill>
                  <a:srgbClr val="182221"/>
                </a:solidFill>
                <a:latin typeface="Arial"/>
                <a:ea typeface="Arial"/>
                <a:cs typeface="Arial"/>
              </a:defRPr>
            </a:lvl7pPr>
            <a:lvl8pPr>
              <a:defRPr sz="2325" b="0">
                <a:solidFill>
                  <a:srgbClr val="182221"/>
                </a:solidFill>
                <a:latin typeface="Arial"/>
                <a:ea typeface="Arial"/>
                <a:cs typeface="Arial"/>
              </a:defRPr>
            </a:lvl8pPr>
            <a:lvl9pPr>
              <a:defRPr sz="2325" b="0">
                <a:solidFill>
                  <a:srgbClr val="182221"/>
                </a:solidFill>
                <a:latin typeface="Arial"/>
                <a:ea typeface="Arial"/>
                <a:cs typeface="Arial"/>
              </a:defRPr>
            </a:lvl9pPr>
          </a:lstStyle>
          <a:p xmlns:a="http://schemas.openxmlformats.org/drawingml/2006/main">
            <a:pPr>
              <a:defRPr sz="2325" b="0">
                <a:solidFill>
                  <a:srgbClr val="182221"/>
                </a:solidFill>
                <a:latin typeface="Arial"/>
                <a:ea typeface="Arial"/>
                <a:cs typeface="Arial"/>
              </a:defRPr>
            </a:pPr>
            <a:r>
              <a:rPr sz="2325" b="0">
                <a:solidFill>
                  <a:srgbClr val="182221"/>
                </a:solidFill>
                <a:latin typeface="Arial"/>
                <a:ea typeface="Arial"/>
                <a:cs typeface="Arial"/>
              </a:rPr>
              <a:t>10 training examples</a:t>
            </a:r>
          </a:p>
          <a:p xmlns:a="http://schemas.openxmlformats.org/drawingml/2006/main">
            <a:pPr>
              <a:defRPr sz="2325" b="0">
                <a:solidFill>
                  <a:srgbClr val="182221"/>
                </a:solidFill>
                <a:latin typeface="Arial"/>
                <a:ea typeface="Arial"/>
                <a:cs typeface="Arial"/>
              </a:defRPr>
            </a:pPr>
            <a:r>
              <a:rPr sz="2325" b="0">
                <a:solidFill>
                  <a:srgbClr val="182221"/>
                </a:solidFill>
                <a:latin typeface="Arial"/>
                <a:ea typeface="Arial"/>
                <a:cs typeface="Arial"/>
              </a:rPr>
              <a:t>2 validation examples · 1 epoch</a:t>
            </a:r>
          </a:p>
        </p:txBody>
      </p:sp>
      <p:sp>
        <p:nvSpPr>
          <p:cNvPr id="5" name="">
            <a:extLst xmlns:a="http://schemas.openxmlformats.org/drawingml/2006/main">
              <a:ext uri="{FF2B5EF4-FFF2-40B4-BE49-F238E27FC236}">
                <a16:creationId xmlns:a16="http://schemas.microsoft.com/office/drawing/2014/main" id="{4D010D85-B0CB-40D8-9B7C-77AA7CC19AF0}"/>
              </a:ext>
            </a:extLst>
          </p:cNvPr>
          <p:cNvSpPr>
            <a:spLocks xmlns:a="http://schemas.openxmlformats.org/drawingml/2006/main" noGrp="1"/>
          </p:cNvSpPr>
          <p:nvPr/>
        </p:nvSpPr>
        <p:spPr>
          <a:xfrm xmlns:a="http://schemas.openxmlformats.org/drawingml/2006/main">
            <a:off x="7620000" y="304800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75" b="1">
                <a:solidFill>
                  <a:srgbClr val="182221"/>
                </a:solidFill>
                <a:latin typeface="Arial"/>
                <a:ea typeface="Arial"/>
                <a:cs typeface="Arial"/>
              </a:defRPr>
            </a:defPPr>
            <a:lvl1pPr>
              <a:defRPr sz="5175" b="1">
                <a:solidFill>
                  <a:srgbClr val="182221"/>
                </a:solidFill>
                <a:latin typeface="Arial"/>
                <a:ea typeface="Arial"/>
                <a:cs typeface="Arial"/>
              </a:defRPr>
            </a:lvl1pPr>
            <a:lvl2pPr>
              <a:defRPr sz="5175" b="1">
                <a:solidFill>
                  <a:srgbClr val="182221"/>
                </a:solidFill>
                <a:latin typeface="Arial"/>
                <a:ea typeface="Arial"/>
                <a:cs typeface="Arial"/>
              </a:defRPr>
            </a:lvl2pPr>
            <a:lvl3pPr>
              <a:defRPr sz="5175" b="1">
                <a:solidFill>
                  <a:srgbClr val="182221"/>
                </a:solidFill>
                <a:latin typeface="Arial"/>
                <a:ea typeface="Arial"/>
                <a:cs typeface="Arial"/>
              </a:defRPr>
            </a:lvl3pPr>
            <a:lvl4pPr>
              <a:defRPr sz="5175" b="1">
                <a:solidFill>
                  <a:srgbClr val="182221"/>
                </a:solidFill>
                <a:latin typeface="Arial"/>
                <a:ea typeface="Arial"/>
                <a:cs typeface="Arial"/>
              </a:defRPr>
            </a:lvl4pPr>
            <a:lvl5pPr>
              <a:defRPr sz="5175" b="1">
                <a:solidFill>
                  <a:srgbClr val="182221"/>
                </a:solidFill>
                <a:latin typeface="Arial"/>
                <a:ea typeface="Arial"/>
                <a:cs typeface="Arial"/>
              </a:defRPr>
            </a:lvl5pPr>
            <a:lvl6pPr>
              <a:defRPr sz="5175" b="1">
                <a:solidFill>
                  <a:srgbClr val="182221"/>
                </a:solidFill>
                <a:latin typeface="Arial"/>
                <a:ea typeface="Arial"/>
                <a:cs typeface="Arial"/>
              </a:defRPr>
            </a:lvl6pPr>
            <a:lvl7pPr>
              <a:defRPr sz="5175" b="1">
                <a:solidFill>
                  <a:srgbClr val="182221"/>
                </a:solidFill>
                <a:latin typeface="Arial"/>
                <a:ea typeface="Arial"/>
                <a:cs typeface="Arial"/>
              </a:defRPr>
            </a:lvl7pPr>
            <a:lvl8pPr>
              <a:defRPr sz="5175" b="1">
                <a:solidFill>
                  <a:srgbClr val="182221"/>
                </a:solidFill>
                <a:latin typeface="Arial"/>
                <a:ea typeface="Arial"/>
                <a:cs typeface="Arial"/>
              </a:defRPr>
            </a:lvl8pPr>
            <a:lvl9pPr>
              <a:defRPr sz="5175" b="1">
                <a:solidFill>
                  <a:srgbClr val="182221"/>
                </a:solidFill>
                <a:latin typeface="Arial"/>
                <a:ea typeface="Arial"/>
                <a:cs typeface="Arial"/>
              </a:defRPr>
            </a:lvl9pPr>
          </a:lstStyle>
          <a:p xmlns:a="http://schemas.openxmlformats.org/drawingml/2006/main">
            <a:pPr>
              <a:defRPr sz="5175" b="1">
                <a:solidFill>
                  <a:srgbClr val="182221"/>
                </a:solidFill>
                <a:latin typeface="Arial"/>
                <a:ea typeface="Arial"/>
                <a:cs typeface="Arial"/>
              </a:defRPr>
            </a:pPr>
            <a:r>
              <a:rPr sz="5175" b="1">
                <a:solidFill>
                  <a:srgbClr val="182221"/>
                </a:solidFill>
                <a:latin typeface="Arial"/>
                <a:ea typeface="Arial"/>
                <a:cs typeface="Arial"/>
              </a:rPr>
              <a:t>26,624</a:t>
            </a:r>
          </a:p>
        </p:txBody>
      </p:sp>
      <p:sp>
        <p:nvSpPr>
          <p:cNvPr id="6" name="">
            <a:extLst xmlns:a="http://schemas.openxmlformats.org/drawingml/2006/main">
              <a:ext uri="{FF2B5EF4-FFF2-40B4-BE49-F238E27FC236}">
                <a16:creationId xmlns:a16="http://schemas.microsoft.com/office/drawing/2014/main" id="{97B6FFF2-0642-47EF-82C2-18042A40BE89}"/>
              </a:ext>
            </a:extLst>
          </p:cNvPr>
          <p:cNvSpPr>
            <a:spLocks xmlns:a="http://schemas.openxmlformats.org/drawingml/2006/main" noGrp="1"/>
          </p:cNvSpPr>
          <p:nvPr/>
        </p:nvSpPr>
        <p:spPr>
          <a:xfrm xmlns:a="http://schemas.openxmlformats.org/drawingml/2006/main">
            <a:off x="7620000" y="40957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82221"/>
                </a:solidFill>
                <a:latin typeface="Arial"/>
                <a:ea typeface="Arial"/>
                <a:cs typeface="Arial"/>
              </a:defRPr>
            </a:defPPr>
            <a:lvl1pPr>
              <a:defRPr sz="2175" b="0">
                <a:solidFill>
                  <a:srgbClr val="182221"/>
                </a:solidFill>
                <a:latin typeface="Arial"/>
                <a:ea typeface="Arial"/>
                <a:cs typeface="Arial"/>
              </a:defRPr>
            </a:lvl1pPr>
            <a:lvl2pPr>
              <a:defRPr sz="2175" b="0">
                <a:solidFill>
                  <a:srgbClr val="182221"/>
                </a:solidFill>
                <a:latin typeface="Arial"/>
                <a:ea typeface="Arial"/>
                <a:cs typeface="Arial"/>
              </a:defRPr>
            </a:lvl2pPr>
            <a:lvl3pPr>
              <a:defRPr sz="2175" b="0">
                <a:solidFill>
                  <a:srgbClr val="182221"/>
                </a:solidFill>
                <a:latin typeface="Arial"/>
                <a:ea typeface="Arial"/>
                <a:cs typeface="Arial"/>
              </a:defRPr>
            </a:lvl3pPr>
            <a:lvl4pPr>
              <a:defRPr sz="2175" b="0">
                <a:solidFill>
                  <a:srgbClr val="182221"/>
                </a:solidFill>
                <a:latin typeface="Arial"/>
                <a:ea typeface="Arial"/>
                <a:cs typeface="Arial"/>
              </a:defRPr>
            </a:lvl4pPr>
            <a:lvl5pPr>
              <a:defRPr sz="2175" b="0">
                <a:solidFill>
                  <a:srgbClr val="182221"/>
                </a:solidFill>
                <a:latin typeface="Arial"/>
                <a:ea typeface="Arial"/>
                <a:cs typeface="Arial"/>
              </a:defRPr>
            </a:lvl5pPr>
            <a:lvl6pPr>
              <a:defRPr sz="2175" b="0">
                <a:solidFill>
                  <a:srgbClr val="182221"/>
                </a:solidFill>
                <a:latin typeface="Arial"/>
                <a:ea typeface="Arial"/>
                <a:cs typeface="Arial"/>
              </a:defRPr>
            </a:lvl6pPr>
            <a:lvl7pPr>
              <a:defRPr sz="2175" b="0">
                <a:solidFill>
                  <a:srgbClr val="182221"/>
                </a:solidFill>
                <a:latin typeface="Arial"/>
                <a:ea typeface="Arial"/>
                <a:cs typeface="Arial"/>
              </a:defRPr>
            </a:lvl7pPr>
            <a:lvl8pPr>
              <a:defRPr sz="2175" b="0">
                <a:solidFill>
                  <a:srgbClr val="182221"/>
                </a:solidFill>
                <a:latin typeface="Arial"/>
                <a:ea typeface="Arial"/>
                <a:cs typeface="Arial"/>
              </a:defRPr>
            </a:lvl8pPr>
            <a:lvl9pPr>
              <a:defRPr sz="2175" b="0">
                <a:solidFill>
                  <a:srgbClr val="182221"/>
                </a:solidFill>
                <a:latin typeface="Arial"/>
                <a:ea typeface="Arial"/>
                <a:cs typeface="Arial"/>
              </a:defRPr>
            </a:lvl9pPr>
          </a:lstStyle>
          <a:p xmlns:a="http://schemas.openxmlformats.org/drawingml/2006/main">
            <a:pPr>
              <a:defRPr sz="2175" b="0">
                <a:solidFill>
                  <a:srgbClr val="182221"/>
                </a:solidFill>
                <a:latin typeface="Arial"/>
                <a:ea typeface="Arial"/>
                <a:cs typeface="Arial"/>
              </a:defRPr>
            </a:pPr>
            <a:r>
              <a:rPr sz="2175" b="0">
                <a:solidFill>
                  <a:srgbClr val="182221"/>
                </a:solidFill>
                <a:latin typeface="Arial"/>
                <a:ea typeface="Arial"/>
                <a:cs typeface="Arial"/>
              </a:rPr>
              <a:t>trained tokens</a:t>
            </a:r>
          </a:p>
        </p:txBody>
      </p:sp>
      <p:sp>
        <p:nvSpPr>
          <p:cNvPr id="7" name="">
            <a:extLst xmlns:a="http://schemas.openxmlformats.org/drawingml/2006/main">
              <a:ext uri="{FF2B5EF4-FFF2-40B4-BE49-F238E27FC236}">
                <a16:creationId xmlns:a16="http://schemas.microsoft.com/office/drawing/2014/main" id="{7365BD36-62D0-422F-803A-913DD7AC5F36}"/>
              </a:ext>
            </a:extLst>
          </p:cNvPr>
          <p:cNvSpPr>
            <a:spLocks xmlns:a="http://schemas.openxmlformats.org/drawingml/2006/main" noGrp="1"/>
          </p:cNvSpPr>
          <p:nvPr/>
        </p:nvSpPr>
        <p:spPr>
          <a:xfrm xmlns:a="http://schemas.openxmlformats.org/drawingml/2006/main">
            <a:off x="685800" y="57150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35E"/>
                </a:solidFill>
                <a:latin typeface="Arial"/>
                <a:ea typeface="Arial"/>
                <a:cs typeface="Arial"/>
              </a:defRPr>
            </a:defPPr>
            <a:lvl1pPr>
              <a:defRPr sz="1725" b="0">
                <a:solidFill>
                  <a:srgbClr val="59635E"/>
                </a:solidFill>
                <a:latin typeface="Arial"/>
                <a:ea typeface="Arial"/>
                <a:cs typeface="Arial"/>
              </a:defRPr>
            </a:lvl1pPr>
            <a:lvl2pPr>
              <a:defRPr sz="1725" b="0">
                <a:solidFill>
                  <a:srgbClr val="59635E"/>
                </a:solidFill>
                <a:latin typeface="Arial"/>
                <a:ea typeface="Arial"/>
                <a:cs typeface="Arial"/>
              </a:defRPr>
            </a:lvl2pPr>
            <a:lvl3pPr>
              <a:defRPr sz="1725" b="0">
                <a:solidFill>
                  <a:srgbClr val="59635E"/>
                </a:solidFill>
                <a:latin typeface="Arial"/>
                <a:ea typeface="Arial"/>
                <a:cs typeface="Arial"/>
              </a:defRPr>
            </a:lvl3pPr>
            <a:lvl4pPr>
              <a:defRPr sz="1725" b="0">
                <a:solidFill>
                  <a:srgbClr val="59635E"/>
                </a:solidFill>
                <a:latin typeface="Arial"/>
                <a:ea typeface="Arial"/>
                <a:cs typeface="Arial"/>
              </a:defRPr>
            </a:lvl4pPr>
            <a:lvl5pPr>
              <a:defRPr sz="1725" b="0">
                <a:solidFill>
                  <a:srgbClr val="59635E"/>
                </a:solidFill>
                <a:latin typeface="Arial"/>
                <a:ea typeface="Arial"/>
                <a:cs typeface="Arial"/>
              </a:defRPr>
            </a:lvl5pPr>
            <a:lvl6pPr>
              <a:defRPr sz="1725" b="0">
                <a:solidFill>
                  <a:srgbClr val="59635E"/>
                </a:solidFill>
                <a:latin typeface="Arial"/>
                <a:ea typeface="Arial"/>
                <a:cs typeface="Arial"/>
              </a:defRPr>
            </a:lvl6pPr>
            <a:lvl7pPr>
              <a:defRPr sz="1725" b="0">
                <a:solidFill>
                  <a:srgbClr val="59635E"/>
                </a:solidFill>
                <a:latin typeface="Arial"/>
                <a:ea typeface="Arial"/>
                <a:cs typeface="Arial"/>
              </a:defRPr>
            </a:lvl7pPr>
            <a:lvl8pPr>
              <a:defRPr sz="1725" b="0">
                <a:solidFill>
                  <a:srgbClr val="59635E"/>
                </a:solidFill>
                <a:latin typeface="Arial"/>
                <a:ea typeface="Arial"/>
                <a:cs typeface="Arial"/>
              </a:defRPr>
            </a:lvl8pPr>
            <a:lvl9pPr>
              <a:defRPr sz="1725" b="0">
                <a:solidFill>
                  <a:srgbClr val="59635E"/>
                </a:solidFill>
                <a:latin typeface="Arial"/>
                <a:ea typeface="Arial"/>
                <a:cs typeface="Arial"/>
              </a:defRPr>
            </a:lvl9pPr>
          </a:lstStyle>
          <a:p xmlns:a="http://schemas.openxmlformats.org/drawingml/2006/main">
            <a:pPr>
              <a:defRPr sz="1725" b="0">
                <a:solidFill>
                  <a:srgbClr val="59635E"/>
                </a:solidFill>
                <a:latin typeface="Arial"/>
                <a:ea typeface="Arial"/>
                <a:cs typeface="Arial"/>
              </a:defRPr>
            </a:pPr>
            <a:r>
              <a:rPr sz="1725" b="0">
                <a:solidFill>
                  <a:srgbClr val="59635E"/>
                </a:solidFill>
                <a:latin typeface="Arial"/>
                <a:ea typeface="Arial"/>
                <a:cs typeface="Arial"/>
              </a:rPr>
              <a:t>SFT integration test. No winning MASS teacher or tuned-quality gain.</a:t>
            </a:r>
          </a:p>
          <a:p xmlns:a="http://schemas.openxmlformats.org/drawingml/2006/main">
            <a:pPr>
              <a:defRPr sz="1725" b="0">
                <a:solidFill>
                  <a:srgbClr val="59635E"/>
                </a:solidFill>
                <a:latin typeface="Arial"/>
                <a:ea typeface="Arial"/>
                <a:cs typeface="Arial"/>
              </a:defRPr>
            </a:pPr>
            <a:r>
              <a:rPr sz="1725" b="0">
                <a:solidFill>
                  <a:srgbClr val="59635E"/>
                </a:solidFill>
                <a:latin typeface="Arial"/>
                <a:ea typeface="Arial"/>
                <a:cs typeface="Arial"/>
              </a:rPr>
              <a:t>Deployment and independent tuned-model evaluation are still required.</a:t>
            </a:r>
          </a:p>
        </p:txBody>
      </p:sp>
    </p:spTree>
    <p:extLst>
      <p:ext uri="{BB962C8B-B14F-4D97-AF65-F5344CB8AC3E}">
        <p14:creationId xmlns:p14="http://schemas.microsoft.com/office/powerpoint/2010/main" val="23561151"/>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E6E3778-C759-4C40-81CF-E15CC635281C}"/>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Appendix · One SQL component comparison</a:t>
            </a:r>
          </a:p>
        </p:txBody>
      </p:sp>
      <p:graphicFrame>
        <p:nvGraphicFramePr>
          <p:cNvPr id="2" name="">
            <a:extLst xmlns:a="http://schemas.openxmlformats.org/drawingml/2006/main">
              <a:ext uri="{FF2B5EF4-FFF2-40B4-BE49-F238E27FC236}">
                <a16:creationId xmlns:a16="http://schemas.microsoft.com/office/drawing/2014/main" id="{0099799F-5CFC-47D2-BA19-D07C76D94D04}"/>
              </a:ext>
            </a:extLst>
          </p:cNvPr>
          <p:cNvGraphicFramePr/>
          <p:nvPr/>
        </p:nvGraphicFramePr>
        <p:xfrm>
          <a:off xmlns:a="http://schemas.openxmlformats.org/drawingml/2006/main" x="685800" y="1619250"/>
          <a:ext xmlns:a="http://schemas.openxmlformats.org/drawingml/2006/main" cx="10820400" cy="3810000"/>
        </p:xfrm>
        <a:graphic xmlns:a="http://schemas.openxmlformats.org/drawingml/2006/main">
          <a:graphicData uri="http://schemas.openxmlformats.org/drawingml/2006/table">
            <a:tbl>
              <a:tblPr firstRow="1" bandRow="0"/>
              <a:tblGrid>
                <a:gridCol w="3905250"/>
                <a:gridCol w="3457575"/>
                <a:gridCol w="3457575"/>
              </a:tblGrid>
              <a:tr h="762000">
                <a:tc>
                  <a:txBody>
                    <a:bodyPr/>
                    <a:lstStyle/>
                    <a:p>
                      <a:r>
                        <a:rPr sz="1950" b="1">
                          <a:solidFill>
                            <a:srgbClr val="FFFFFF"/>
                          </a:solidFill>
                          <a:latin typeface="Arial"/>
                          <a:ea typeface="Arial"/>
                          <a:cs typeface="Arial"/>
                        </a:rPr>
                        <a:t>SQL component</a:t>
                      </a:r>
                    </a:p>
                  </a:txBody>
                  <a:tcPr marL="152400" marR="152400" marT="133350" marB="133350" anchor="ctr">
                    <a:lnL w="9525">
                      <a:solidFill>
                        <a:srgbClr val="CED3CB"/>
                      </a:solidFill>
                      <a:prstDash val="solid"/>
                    </a:lnL>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950" b="1">
                          <a:solidFill>
                            <a:srgbClr val="FFFFFF"/>
                          </a:solidFill>
                          <a:latin typeface="Arial"/>
                          <a:ea typeface="Arial"/>
                          <a:cs typeface="Arial"/>
                        </a:rPr>
                        <a:t>Contract-only one shot</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c>
                  <a:txBody>
                    <a:bodyPr/>
                    <a:lstStyle/>
                    <a:p>
                      <a:r>
                        <a:rPr sz="1950" b="1">
                          <a:solidFill>
                            <a:srgbClr val="FFFFFF"/>
                          </a:solidFill>
                          <a:latin typeface="Arial"/>
                          <a:ea typeface="Arial"/>
                          <a:cs typeface="Arial"/>
                        </a:rPr>
                        <a:t>AYA accepted</a:t>
                      </a:r>
                    </a:p>
                  </a:txBody>
                  <a:tcPr marL="152400" marR="152400" marT="133350" marB="133350" anchor="ctr">
                    <a:lnR w="9525">
                      <a:solidFill>
                        <a:srgbClr val="CED3CB"/>
                      </a:solidFill>
                      <a:prstDash val="solid"/>
                    </a:lnR>
                    <a:lnT w="9525">
                      <a:solidFill>
                        <a:srgbClr val="CED3CB"/>
                      </a:solidFill>
                      <a:prstDash val="solid"/>
                    </a:lnT>
                    <a:lnB w="9525">
                      <a:solidFill>
                        <a:srgbClr val="CED3CB"/>
                      </a:solidFill>
                      <a:prstDash val="solid"/>
                    </a:lnB>
                    <a:solidFill>
                      <a:srgbClr val="182221"/>
                    </a:solidFill>
                  </a:tcPr>
                </a:tc>
              </a:tr>
              <a:tr h="762000">
                <a:tc>
                  <a:txBody>
                    <a:bodyPr/>
                    <a:lstStyle/>
                    <a:p>
                      <a:r>
                        <a:rPr sz="1950">
                          <a:solidFill>
                            <a:srgbClr val="182221"/>
                          </a:solidFill>
                          <a:latin typeface="Arial"/>
                          <a:ea typeface="Arial"/>
                          <a:cs typeface="Arial"/>
                        </a:rPr>
                        <a:t>Independent checks</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107 / 118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118 / 118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r h="762000">
                <a:tc>
                  <a:txBody>
                    <a:bodyPr/>
                    <a:lstStyle/>
                    <a:p>
                      <a:r>
                        <a:rPr sz="1950">
                          <a:solidFill>
                            <a:srgbClr val="182221"/>
                          </a:solidFill>
                          <a:latin typeface="Arial"/>
                          <a:ea typeface="Arial"/>
                          <a:cs typeface="Arial"/>
                        </a:rPr>
                        <a:t>Fresh-seed checks</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107 / 118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118 / 118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r h="762000">
                <a:tc>
                  <a:txBody>
                    <a:bodyPr/>
                    <a:lstStyle/>
                    <a:p>
                      <a:r>
                        <a:rPr sz="1950">
                          <a:solidFill>
                            <a:srgbClr val="182221"/>
                          </a:solidFill>
                          <a:latin typeface="Arial"/>
                          <a:ea typeface="Arial"/>
                          <a:cs typeface="Arial"/>
                        </a:rPr>
                        <a:t>Model calls</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98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r h="762000">
                <a:tc>
                  <a:txBody>
                    <a:bodyPr/>
                    <a:lstStyle/>
                    <a:p>
                      <a:r>
                        <a:rPr sz="1950">
                          <a:solidFill>
                            <a:srgbClr val="182221"/>
                          </a:solidFill>
                          <a:latin typeface="Arial"/>
                          <a:ea typeface="Arial"/>
                          <a:cs typeface="Arial"/>
                        </a:rPr>
                        <a:t>Cumulative tokens</a:t>
                      </a:r>
                    </a:p>
                  </a:txBody>
                  <a:tcPr marL="152400" marR="152400" marT="133350" marB="133350" anchor="ctr">
                    <a:lnL w="9525">
                      <a:solidFill>
                        <a:srgbClr val="CED3CB"/>
                      </a:solidFill>
                      <a:prstDash val="solid"/>
                    </a:lnL>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2,268</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c>
                  <a:txBody>
                    <a:bodyPr/>
                    <a:lstStyle/>
                    <a:p>
                      <a:r>
                        <a:rPr sz="1950">
                          <a:solidFill>
                            <a:srgbClr val="182221"/>
                          </a:solidFill>
                          <a:latin typeface="Arial"/>
                          <a:ea typeface="Arial"/>
                          <a:cs typeface="Arial"/>
                        </a:rPr>
                        <a:t>191,554</a:t>
                      </a:r>
                    </a:p>
                  </a:txBody>
                  <a:tcPr marL="152400" marR="152400" marT="133350" marB="133350" anchor="ctr">
                    <a:lnR w="9525">
                      <a:solidFill>
                        <a:srgbClr val="CED3CB"/>
                      </a:solidFill>
                      <a:prstDash val="solid"/>
                    </a:lnR>
                    <a:lnB w="9525">
                      <a:solidFill>
                        <a:srgbClr val="CED3CB"/>
                      </a:solidFill>
                      <a:prstDash val="solid"/>
                    </a:lnB>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529D094-DC29-4365-A934-70F50AB8B9CB}"/>
              </a:ext>
            </a:extLst>
          </p:cNvPr>
          <p:cNvSpPr>
            <a:spLocks xmlns:a="http://schemas.openxmlformats.org/drawingml/2006/main" noGrp="1"/>
          </p:cNvSpPr>
          <p:nvPr/>
        </p:nvSpPr>
        <p:spPr>
          <a:xfrm xmlns:a="http://schemas.openxmlformats.org/drawingml/2006/main">
            <a:off x="685800" y="5857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9635E"/>
                </a:solidFill>
                <a:latin typeface="Arial"/>
                <a:ea typeface="Arial"/>
                <a:cs typeface="Arial"/>
              </a:defRPr>
            </a:defPPr>
            <a:lvl1pPr>
              <a:defRPr sz="1875" b="0">
                <a:solidFill>
                  <a:srgbClr val="59635E"/>
                </a:solidFill>
                <a:latin typeface="Arial"/>
                <a:ea typeface="Arial"/>
                <a:cs typeface="Arial"/>
              </a:defRPr>
            </a:lvl1pPr>
            <a:lvl2pPr>
              <a:defRPr sz="1875" b="0">
                <a:solidFill>
                  <a:srgbClr val="59635E"/>
                </a:solidFill>
                <a:latin typeface="Arial"/>
                <a:ea typeface="Arial"/>
                <a:cs typeface="Arial"/>
              </a:defRPr>
            </a:lvl2pPr>
            <a:lvl3pPr>
              <a:defRPr sz="1875" b="0">
                <a:solidFill>
                  <a:srgbClr val="59635E"/>
                </a:solidFill>
                <a:latin typeface="Arial"/>
                <a:ea typeface="Arial"/>
                <a:cs typeface="Arial"/>
              </a:defRPr>
            </a:lvl3pPr>
            <a:lvl4pPr>
              <a:defRPr sz="1875" b="0">
                <a:solidFill>
                  <a:srgbClr val="59635E"/>
                </a:solidFill>
                <a:latin typeface="Arial"/>
                <a:ea typeface="Arial"/>
                <a:cs typeface="Arial"/>
              </a:defRPr>
            </a:lvl4pPr>
            <a:lvl5pPr>
              <a:defRPr sz="1875" b="0">
                <a:solidFill>
                  <a:srgbClr val="59635E"/>
                </a:solidFill>
                <a:latin typeface="Arial"/>
                <a:ea typeface="Arial"/>
                <a:cs typeface="Arial"/>
              </a:defRPr>
            </a:lvl5pPr>
            <a:lvl6pPr>
              <a:defRPr sz="1875" b="0">
                <a:solidFill>
                  <a:srgbClr val="59635E"/>
                </a:solidFill>
                <a:latin typeface="Arial"/>
                <a:ea typeface="Arial"/>
                <a:cs typeface="Arial"/>
              </a:defRPr>
            </a:lvl6pPr>
            <a:lvl7pPr>
              <a:defRPr sz="1875" b="0">
                <a:solidFill>
                  <a:srgbClr val="59635E"/>
                </a:solidFill>
                <a:latin typeface="Arial"/>
                <a:ea typeface="Arial"/>
                <a:cs typeface="Arial"/>
              </a:defRPr>
            </a:lvl7pPr>
            <a:lvl8pPr>
              <a:defRPr sz="1875" b="0">
                <a:solidFill>
                  <a:srgbClr val="59635E"/>
                </a:solidFill>
                <a:latin typeface="Arial"/>
                <a:ea typeface="Arial"/>
                <a:cs typeface="Arial"/>
              </a:defRPr>
            </a:lvl8pPr>
            <a:lvl9pPr>
              <a:defRPr sz="1875" b="0">
                <a:solidFill>
                  <a:srgbClr val="59635E"/>
                </a:solidFill>
                <a:latin typeface="Arial"/>
                <a:ea typeface="Arial"/>
                <a:cs typeface="Arial"/>
              </a:defRPr>
            </a:lvl9pPr>
          </a:lstStyle>
          <a:p xmlns:a="http://schemas.openxmlformats.org/drawingml/2006/main">
            <a:pPr>
              <a:defRPr sz="1875" b="0">
                <a:solidFill>
                  <a:srgbClr val="59635E"/>
                </a:solidFill>
                <a:latin typeface="Arial"/>
                <a:ea typeface="Arial"/>
                <a:cs typeface="Arial"/>
              </a:defRPr>
            </a:pPr>
            <a:r>
              <a:rPr sz="1875" b="0">
                <a:solidFill>
                  <a:srgbClr val="59635E"/>
                </a:solidFill>
                <a:latin typeface="Arial"/>
                <a:ea typeface="Arial"/>
                <a:cs typeface="Arial"/>
              </a:rPr>
              <a:t>Unequal budgets. This does not isolate REA's effect or establish superiority.</a:t>
            </a:r>
          </a:p>
        </p:txBody>
      </p:sp>
    </p:spTree>
    <p:extLst>
      <p:ext uri="{BB962C8B-B14F-4D97-AF65-F5344CB8AC3E}">
        <p14:creationId xmlns:p14="http://schemas.microsoft.com/office/powerpoint/2010/main" val="1046923502"/>
      </p:ext>
    </p:extLst>
  </p:cSld>
</p:sld>
</file>

<file path=ppt/slides/slide1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80E85B-9F63-4D22-AABE-AB62F7EBF7A0}"/>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221"/>
                </a:solidFill>
                <a:latin typeface="Arial"/>
                <a:ea typeface="Arial"/>
                <a:cs typeface="Arial"/>
              </a:defRPr>
            </a:defPPr>
            <a:lvl1pPr>
              <a:defRPr sz="3300" b="1">
                <a:solidFill>
                  <a:srgbClr val="182221"/>
                </a:solidFill>
                <a:latin typeface="Arial"/>
                <a:ea typeface="Arial"/>
                <a:cs typeface="Arial"/>
              </a:defRPr>
            </a:lvl1pPr>
            <a:lvl2pPr>
              <a:defRPr sz="3300" b="1">
                <a:solidFill>
                  <a:srgbClr val="182221"/>
                </a:solidFill>
                <a:latin typeface="Arial"/>
                <a:ea typeface="Arial"/>
                <a:cs typeface="Arial"/>
              </a:defRPr>
            </a:lvl2pPr>
            <a:lvl3pPr>
              <a:defRPr sz="3300" b="1">
                <a:solidFill>
                  <a:srgbClr val="182221"/>
                </a:solidFill>
                <a:latin typeface="Arial"/>
                <a:ea typeface="Arial"/>
                <a:cs typeface="Arial"/>
              </a:defRPr>
            </a:lvl3pPr>
            <a:lvl4pPr>
              <a:defRPr sz="3300" b="1">
                <a:solidFill>
                  <a:srgbClr val="182221"/>
                </a:solidFill>
                <a:latin typeface="Arial"/>
                <a:ea typeface="Arial"/>
                <a:cs typeface="Arial"/>
              </a:defRPr>
            </a:lvl4pPr>
            <a:lvl5pPr>
              <a:defRPr sz="3300" b="1">
                <a:solidFill>
                  <a:srgbClr val="182221"/>
                </a:solidFill>
                <a:latin typeface="Arial"/>
                <a:ea typeface="Arial"/>
                <a:cs typeface="Arial"/>
              </a:defRPr>
            </a:lvl5pPr>
            <a:lvl6pPr>
              <a:defRPr sz="3300" b="1">
                <a:solidFill>
                  <a:srgbClr val="182221"/>
                </a:solidFill>
                <a:latin typeface="Arial"/>
                <a:ea typeface="Arial"/>
                <a:cs typeface="Arial"/>
              </a:defRPr>
            </a:lvl6pPr>
            <a:lvl7pPr>
              <a:defRPr sz="3300" b="1">
                <a:solidFill>
                  <a:srgbClr val="182221"/>
                </a:solidFill>
                <a:latin typeface="Arial"/>
                <a:ea typeface="Arial"/>
                <a:cs typeface="Arial"/>
              </a:defRPr>
            </a:lvl7pPr>
            <a:lvl8pPr>
              <a:defRPr sz="3300" b="1">
                <a:solidFill>
                  <a:srgbClr val="182221"/>
                </a:solidFill>
                <a:latin typeface="Arial"/>
                <a:ea typeface="Arial"/>
                <a:cs typeface="Arial"/>
              </a:defRPr>
            </a:lvl8pPr>
            <a:lvl9pPr>
              <a:defRPr sz="3300" b="1">
                <a:solidFill>
                  <a:srgbClr val="182221"/>
                </a:solidFill>
                <a:latin typeface="Arial"/>
                <a:ea typeface="Arial"/>
                <a:cs typeface="Arial"/>
              </a:defRPr>
            </a:lvl9pPr>
          </a:lstStyle>
          <a:p xmlns:a="http://schemas.openxmlformats.org/drawingml/2006/main">
            <a:pPr>
              <a:defRPr sz="3300" b="1">
                <a:solidFill>
                  <a:srgbClr val="182221"/>
                </a:solidFill>
                <a:latin typeface="Arial"/>
                <a:ea typeface="Arial"/>
                <a:cs typeface="Arial"/>
              </a:defRPr>
            </a:pPr>
            <a:r>
              <a:rPr sz="3300" b="1">
                <a:solidFill>
                  <a:srgbClr val="182221"/>
                </a:solidFill>
                <a:latin typeface="Arial"/>
                <a:ea typeface="Arial"/>
                <a:cs typeface="Arial"/>
              </a:rPr>
              <a:t>Appendix · Boundaries and review links</a:t>
            </a:r>
          </a:p>
        </p:txBody>
      </p:sp>
      <p:sp>
        <p:nvSpPr>
          <p:cNvPr id="2" name="">
            <a:extLst xmlns:a="http://schemas.openxmlformats.org/drawingml/2006/main">
              <a:ext uri="{FF2B5EF4-FFF2-40B4-BE49-F238E27FC236}">
                <a16:creationId xmlns:a16="http://schemas.microsoft.com/office/drawing/2014/main" id="{09845E66-353D-40D2-9BC2-EF8CC9B3361B}"/>
              </a:ext>
            </a:extLst>
          </p:cNvPr>
          <p:cNvSpPr>
            <a:spLocks xmlns:a="http://schemas.openxmlformats.org/drawingml/2006/main" noGrp="1"/>
          </p:cNvSpPr>
          <p:nvPr/>
        </p:nvSpPr>
        <p:spPr>
          <a:xfrm xmlns:a="http://schemas.openxmlformats.org/drawingml/2006/main">
            <a:off x="685800" y="16668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82221"/>
                </a:solidFill>
                <a:latin typeface="Arial"/>
                <a:ea typeface="Arial"/>
                <a:cs typeface="Arial"/>
              </a:defRPr>
            </a:defPPr>
            <a:lvl1pPr>
              <a:defRPr sz="2400" b="0">
                <a:solidFill>
                  <a:srgbClr val="182221"/>
                </a:solidFill>
                <a:latin typeface="Arial"/>
                <a:ea typeface="Arial"/>
                <a:cs typeface="Arial"/>
              </a:defRPr>
            </a:lvl1pPr>
            <a:lvl2pPr>
              <a:defRPr sz="2400" b="0">
                <a:solidFill>
                  <a:srgbClr val="182221"/>
                </a:solidFill>
                <a:latin typeface="Arial"/>
                <a:ea typeface="Arial"/>
                <a:cs typeface="Arial"/>
              </a:defRPr>
            </a:lvl2pPr>
            <a:lvl3pPr>
              <a:defRPr sz="2400" b="0">
                <a:solidFill>
                  <a:srgbClr val="182221"/>
                </a:solidFill>
                <a:latin typeface="Arial"/>
                <a:ea typeface="Arial"/>
                <a:cs typeface="Arial"/>
              </a:defRPr>
            </a:lvl3pPr>
            <a:lvl4pPr>
              <a:defRPr sz="2400" b="0">
                <a:solidFill>
                  <a:srgbClr val="182221"/>
                </a:solidFill>
                <a:latin typeface="Arial"/>
                <a:ea typeface="Arial"/>
                <a:cs typeface="Arial"/>
              </a:defRPr>
            </a:lvl4pPr>
            <a:lvl5pPr>
              <a:defRPr sz="2400" b="0">
                <a:solidFill>
                  <a:srgbClr val="182221"/>
                </a:solidFill>
                <a:latin typeface="Arial"/>
                <a:ea typeface="Arial"/>
                <a:cs typeface="Arial"/>
              </a:defRPr>
            </a:lvl5pPr>
            <a:lvl6pPr>
              <a:defRPr sz="2400" b="0">
                <a:solidFill>
                  <a:srgbClr val="182221"/>
                </a:solidFill>
                <a:latin typeface="Arial"/>
                <a:ea typeface="Arial"/>
                <a:cs typeface="Arial"/>
              </a:defRPr>
            </a:lvl6pPr>
            <a:lvl7pPr>
              <a:defRPr sz="2400" b="0">
                <a:solidFill>
                  <a:srgbClr val="182221"/>
                </a:solidFill>
                <a:latin typeface="Arial"/>
                <a:ea typeface="Arial"/>
                <a:cs typeface="Arial"/>
              </a:defRPr>
            </a:lvl7pPr>
            <a:lvl8pPr>
              <a:defRPr sz="2400" b="0">
                <a:solidFill>
                  <a:srgbClr val="182221"/>
                </a:solidFill>
                <a:latin typeface="Arial"/>
                <a:ea typeface="Arial"/>
                <a:cs typeface="Arial"/>
              </a:defRPr>
            </a:lvl8pPr>
            <a:lvl9pPr>
              <a:defRPr sz="2400" b="0">
                <a:solidFill>
                  <a:srgbClr val="182221"/>
                </a:solidFill>
                <a:latin typeface="Arial"/>
                <a:ea typeface="Arial"/>
                <a:cs typeface="Arial"/>
              </a:defRPr>
            </a:lvl9pPr>
          </a:lstStyle>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Current Spider reference SQL stays controller-side.</a:t>
            </a:r>
          </a:p>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SQL runs in a separate restricted executor.</a:t>
            </a:r>
          </a:p>
          <a:p xmlns:a="http://schemas.openxmlformats.org/drawingml/2006/main">
            <a:pPr>
              <a:defRPr sz="2400" b="0">
                <a:solidFill>
                  <a:srgbClr val="182221"/>
                </a:solidFill>
                <a:latin typeface="Arial"/>
                <a:ea typeface="Arial"/>
                <a:cs typeface="Arial"/>
              </a:defRPr>
            </a:pPr>
            <a:r>
              <a:rPr sz="2400" b="0">
                <a:solidFill>
                  <a:srgbClr val="182221"/>
                </a:solidFill>
                <a:latin typeface="Arial"/>
                <a:ea typeface="Arial"/>
                <a:cs typeface="Arial"/>
              </a:rPr>
              <a:t>Native workspaces share one worker filesystem.</a:t>
            </a:r>
          </a:p>
        </p:txBody>
      </p:sp>
      <p:sp>
        <p:nvSpPr>
          <p:cNvPr id="3" name="">
            <a:extLst xmlns:a="http://schemas.openxmlformats.org/drawingml/2006/main">
              <a:ext uri="{FF2B5EF4-FFF2-40B4-BE49-F238E27FC236}">
                <a16:creationId xmlns:a16="http://schemas.microsoft.com/office/drawing/2014/main" id="{62F99336-3031-47D9-A298-B801D17564C0}"/>
              </a:ext>
            </a:extLst>
          </p:cNvPr>
          <p:cNvSpPr>
            <a:spLocks xmlns:a="http://schemas.openxmlformats.org/drawingml/2006/main" noGrp="1"/>
          </p:cNvSpPr>
          <p:nvPr/>
        </p:nvSpPr>
        <p:spPr>
          <a:xfrm xmlns:a="http://schemas.openxmlformats.org/drawingml/2006/main">
            <a:off x="685800" y="385762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82221"/>
                </a:solidFill>
                <a:latin typeface="Arial"/>
                <a:ea typeface="Arial"/>
                <a:cs typeface="Arial"/>
              </a:defRPr>
            </a:defPPr>
            <a:lvl1pPr>
              <a:defRPr sz="1950" b="1">
                <a:solidFill>
                  <a:srgbClr val="182221"/>
                </a:solidFill>
                <a:latin typeface="Arial"/>
                <a:ea typeface="Arial"/>
                <a:cs typeface="Arial"/>
              </a:defRPr>
            </a:lvl1pPr>
            <a:lvl2pPr>
              <a:defRPr sz="1950" b="1">
                <a:solidFill>
                  <a:srgbClr val="182221"/>
                </a:solidFill>
                <a:latin typeface="Arial"/>
                <a:ea typeface="Arial"/>
                <a:cs typeface="Arial"/>
              </a:defRPr>
            </a:lvl2pPr>
            <a:lvl3pPr>
              <a:defRPr sz="1950" b="1">
                <a:solidFill>
                  <a:srgbClr val="182221"/>
                </a:solidFill>
                <a:latin typeface="Arial"/>
                <a:ea typeface="Arial"/>
                <a:cs typeface="Arial"/>
              </a:defRPr>
            </a:lvl3pPr>
            <a:lvl4pPr>
              <a:defRPr sz="1950" b="1">
                <a:solidFill>
                  <a:srgbClr val="182221"/>
                </a:solidFill>
                <a:latin typeface="Arial"/>
                <a:ea typeface="Arial"/>
                <a:cs typeface="Arial"/>
              </a:defRPr>
            </a:lvl4pPr>
            <a:lvl5pPr>
              <a:defRPr sz="1950" b="1">
                <a:solidFill>
                  <a:srgbClr val="182221"/>
                </a:solidFill>
                <a:latin typeface="Arial"/>
                <a:ea typeface="Arial"/>
                <a:cs typeface="Arial"/>
              </a:defRPr>
            </a:lvl5pPr>
            <a:lvl6pPr>
              <a:defRPr sz="1950" b="1">
                <a:solidFill>
                  <a:srgbClr val="182221"/>
                </a:solidFill>
                <a:latin typeface="Arial"/>
                <a:ea typeface="Arial"/>
                <a:cs typeface="Arial"/>
              </a:defRPr>
            </a:lvl6pPr>
            <a:lvl7pPr>
              <a:defRPr sz="1950" b="1">
                <a:solidFill>
                  <a:srgbClr val="182221"/>
                </a:solidFill>
                <a:latin typeface="Arial"/>
                <a:ea typeface="Arial"/>
                <a:cs typeface="Arial"/>
              </a:defRPr>
            </a:lvl7pPr>
            <a:lvl8pPr>
              <a:defRPr sz="1950" b="1">
                <a:solidFill>
                  <a:srgbClr val="182221"/>
                </a:solidFill>
                <a:latin typeface="Arial"/>
                <a:ea typeface="Arial"/>
                <a:cs typeface="Arial"/>
              </a:defRPr>
            </a:lvl8pPr>
            <a:lvl9pPr>
              <a:defRPr sz="1950" b="1">
                <a:solidFill>
                  <a:srgbClr val="182221"/>
                </a:solidFill>
                <a:latin typeface="Arial"/>
                <a:ea typeface="Arial"/>
                <a:cs typeface="Arial"/>
              </a:defRPr>
            </a:lvl9pPr>
          </a:lstStyle>
          <a:p xmlns:a="http://schemas.openxmlformats.org/drawingml/2006/main">
            <a:pPr>
              <a:defRPr sz="1950" b="1">
                <a:solidFill>
                  <a:srgbClr val="182221"/>
                </a:solidFill>
                <a:latin typeface="Arial"/>
                <a:ea typeface="Arial"/>
                <a:cs typeface="Arial"/>
              </a:defRPr>
            </a:pPr>
            <a:r>
              <a:rPr sz="1950" b="1">
                <a:solidFill>
                  <a:srgbClr val="182221"/>
                </a:solidFill>
                <a:latin typeface="Arial"/>
                <a:ea typeface="Arial"/>
                <a:cs typeface="Arial"/>
              </a:rPr>
              <a:t>Factory</a:t>
            </a:r>
          </a:p>
        </p:txBody>
      </p:sp>
      <p:sp>
        <p:nvSpPr>
          <p:cNvPr id="4" name="">
            <a:extLst xmlns:a="http://schemas.openxmlformats.org/drawingml/2006/main">
              <a:ext uri="{FF2B5EF4-FFF2-40B4-BE49-F238E27FC236}">
                <a16:creationId xmlns:a16="http://schemas.microsoft.com/office/drawing/2014/main" id="{E122DF93-17C9-4BB2-B7F9-04D978C5E0B1}"/>
              </a:ext>
            </a:extLst>
          </p:cNvPr>
          <p:cNvSpPr>
            <a:spLocks xmlns:a="http://schemas.openxmlformats.org/drawingml/2006/main" noGrp="1"/>
          </p:cNvSpPr>
          <p:nvPr/>
        </p:nvSpPr>
        <p:spPr>
          <a:xfrm xmlns:a="http://schemas.openxmlformats.org/drawingml/2006/main">
            <a:off x="3905250" y="3857625"/>
            <a:ext cx="7600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0B6B50"/>
                </a:solidFill>
                <a:latin typeface="Arial"/>
                <a:ea typeface="Arial"/>
                <a:cs typeface="Arial"/>
              </a:defRPr>
            </a:defPPr>
            <a:lvl1pPr>
              <a:defRPr sz="1800" b="0">
                <a:solidFill>
                  <a:srgbClr val="0B6B50"/>
                </a:solidFill>
                <a:latin typeface="Arial"/>
                <a:ea typeface="Arial"/>
                <a:cs typeface="Arial"/>
              </a:defRPr>
            </a:lvl1pPr>
            <a:lvl2pPr>
              <a:defRPr sz="1800" b="0">
                <a:solidFill>
                  <a:srgbClr val="0B6B50"/>
                </a:solidFill>
                <a:latin typeface="Arial"/>
                <a:ea typeface="Arial"/>
                <a:cs typeface="Arial"/>
              </a:defRPr>
            </a:lvl2pPr>
            <a:lvl3pPr>
              <a:defRPr sz="1800" b="0">
                <a:solidFill>
                  <a:srgbClr val="0B6B50"/>
                </a:solidFill>
                <a:latin typeface="Arial"/>
                <a:ea typeface="Arial"/>
                <a:cs typeface="Arial"/>
              </a:defRPr>
            </a:lvl3pPr>
            <a:lvl4pPr>
              <a:defRPr sz="1800" b="0">
                <a:solidFill>
                  <a:srgbClr val="0B6B50"/>
                </a:solidFill>
                <a:latin typeface="Arial"/>
                <a:ea typeface="Arial"/>
                <a:cs typeface="Arial"/>
              </a:defRPr>
            </a:lvl4pPr>
            <a:lvl5pPr>
              <a:defRPr sz="1800" b="0">
                <a:solidFill>
                  <a:srgbClr val="0B6B50"/>
                </a:solidFill>
                <a:latin typeface="Arial"/>
                <a:ea typeface="Arial"/>
                <a:cs typeface="Arial"/>
              </a:defRPr>
            </a:lvl5pPr>
            <a:lvl6pPr>
              <a:defRPr sz="1800" b="0">
                <a:solidFill>
                  <a:srgbClr val="0B6B50"/>
                </a:solidFill>
                <a:latin typeface="Arial"/>
                <a:ea typeface="Arial"/>
                <a:cs typeface="Arial"/>
              </a:defRPr>
            </a:lvl6pPr>
            <a:lvl7pPr>
              <a:defRPr sz="1800" b="0">
                <a:solidFill>
                  <a:srgbClr val="0B6B50"/>
                </a:solidFill>
                <a:latin typeface="Arial"/>
                <a:ea typeface="Arial"/>
                <a:cs typeface="Arial"/>
              </a:defRPr>
            </a:lvl7pPr>
            <a:lvl8pPr>
              <a:defRPr sz="1800" b="0">
                <a:solidFill>
                  <a:srgbClr val="0B6B50"/>
                </a:solidFill>
                <a:latin typeface="Arial"/>
                <a:ea typeface="Arial"/>
                <a:cs typeface="Arial"/>
              </a:defRPr>
            </a:lvl8pPr>
            <a:lvl9pPr>
              <a:defRPr sz="1800" b="0">
                <a:solidFill>
                  <a:srgbClr val="0B6B50"/>
                </a:solidFill>
                <a:latin typeface="Arial"/>
                <a:ea typeface="Arial"/>
                <a:cs typeface="Arial"/>
              </a:defRPr>
            </a:lvl9pPr>
          </a:lstStyle>
          <a:p xmlns:a="http://schemas.openxmlformats.org/drawingml/2006/main">
            <a:pPr>
              <a:defRPr sz="1800" b="0">
                <a:solidFill>
                  <a:srgbClr val="0B6B50"/>
                </a:solidFill>
                <a:latin typeface="Arial"/>
                <a:ea typeface="Arial"/>
                <a:cs typeface="Arial"/>
              </a:defRPr>
            </a:pPr>
            <a:r>
              <a:rPr sz="1800" b="0">
                <a:solidFill>
                  <a:srgbClr val="0B6B50"/>
                </a:solidFill>
                <a:latin typeface="Arial"/>
                <a:ea typeface="Arial"/>
                <a:cs typeface="Arial"/>
              </a:rPr>
              <a:t>https://github.com/Ali-Maq/aya/pull/1</a:t>
            </a:r>
          </a:p>
        </p:txBody>
      </p:sp>
      <p:sp>
        <p:nvSpPr>
          <p:cNvPr id="5" name="">
            <a:extLst xmlns:a="http://schemas.openxmlformats.org/drawingml/2006/main">
              <a:ext uri="{FF2B5EF4-FFF2-40B4-BE49-F238E27FC236}">
                <a16:creationId xmlns:a16="http://schemas.microsoft.com/office/drawing/2014/main" id="{8771A1C9-A9CA-445A-9D4F-54D6BC645683}"/>
              </a:ext>
            </a:extLst>
          </p:cNvPr>
          <p:cNvSpPr>
            <a:spLocks xmlns:a="http://schemas.openxmlformats.org/drawingml/2006/main" noGrp="1"/>
          </p:cNvSpPr>
          <p:nvPr/>
        </p:nvSpPr>
        <p:spPr>
          <a:xfrm xmlns:a="http://schemas.openxmlformats.org/drawingml/2006/main">
            <a:off x="685800" y="458152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82221"/>
                </a:solidFill>
                <a:latin typeface="Arial"/>
                <a:ea typeface="Arial"/>
                <a:cs typeface="Arial"/>
              </a:defRPr>
            </a:defPPr>
            <a:lvl1pPr>
              <a:defRPr sz="1950" b="1">
                <a:solidFill>
                  <a:srgbClr val="182221"/>
                </a:solidFill>
                <a:latin typeface="Arial"/>
                <a:ea typeface="Arial"/>
                <a:cs typeface="Arial"/>
              </a:defRPr>
            </a:lvl1pPr>
            <a:lvl2pPr>
              <a:defRPr sz="1950" b="1">
                <a:solidFill>
                  <a:srgbClr val="182221"/>
                </a:solidFill>
                <a:latin typeface="Arial"/>
                <a:ea typeface="Arial"/>
                <a:cs typeface="Arial"/>
              </a:defRPr>
            </a:lvl2pPr>
            <a:lvl3pPr>
              <a:defRPr sz="1950" b="1">
                <a:solidFill>
                  <a:srgbClr val="182221"/>
                </a:solidFill>
                <a:latin typeface="Arial"/>
                <a:ea typeface="Arial"/>
                <a:cs typeface="Arial"/>
              </a:defRPr>
            </a:lvl3pPr>
            <a:lvl4pPr>
              <a:defRPr sz="1950" b="1">
                <a:solidFill>
                  <a:srgbClr val="182221"/>
                </a:solidFill>
                <a:latin typeface="Arial"/>
                <a:ea typeface="Arial"/>
                <a:cs typeface="Arial"/>
              </a:defRPr>
            </a:lvl4pPr>
            <a:lvl5pPr>
              <a:defRPr sz="1950" b="1">
                <a:solidFill>
                  <a:srgbClr val="182221"/>
                </a:solidFill>
                <a:latin typeface="Arial"/>
                <a:ea typeface="Arial"/>
                <a:cs typeface="Arial"/>
              </a:defRPr>
            </a:lvl5pPr>
            <a:lvl6pPr>
              <a:defRPr sz="1950" b="1">
                <a:solidFill>
                  <a:srgbClr val="182221"/>
                </a:solidFill>
                <a:latin typeface="Arial"/>
                <a:ea typeface="Arial"/>
                <a:cs typeface="Arial"/>
              </a:defRPr>
            </a:lvl6pPr>
            <a:lvl7pPr>
              <a:defRPr sz="1950" b="1">
                <a:solidFill>
                  <a:srgbClr val="182221"/>
                </a:solidFill>
                <a:latin typeface="Arial"/>
                <a:ea typeface="Arial"/>
                <a:cs typeface="Arial"/>
              </a:defRPr>
            </a:lvl7pPr>
            <a:lvl8pPr>
              <a:defRPr sz="1950" b="1">
                <a:solidFill>
                  <a:srgbClr val="182221"/>
                </a:solidFill>
                <a:latin typeface="Arial"/>
                <a:ea typeface="Arial"/>
                <a:cs typeface="Arial"/>
              </a:defRPr>
            </a:lvl8pPr>
            <a:lvl9pPr>
              <a:defRPr sz="1950" b="1">
                <a:solidFill>
                  <a:srgbClr val="182221"/>
                </a:solidFill>
                <a:latin typeface="Arial"/>
                <a:ea typeface="Arial"/>
                <a:cs typeface="Arial"/>
              </a:defRPr>
            </a:lvl9pPr>
          </a:lstStyle>
          <a:p xmlns:a="http://schemas.openxmlformats.org/drawingml/2006/main">
            <a:pPr>
              <a:defRPr sz="1950" b="1">
                <a:solidFill>
                  <a:srgbClr val="182221"/>
                </a:solidFill>
                <a:latin typeface="Arial"/>
                <a:ea typeface="Arial"/>
                <a:cs typeface="Arial"/>
              </a:defRPr>
            </a:pPr>
            <a:r>
              <a:rPr sz="1950" b="1">
                <a:solidFill>
                  <a:srgbClr val="182221"/>
                </a:solidFill>
                <a:latin typeface="Arial"/>
                <a:ea typeface="Arial"/>
                <a:cs typeface="Arial"/>
              </a:rPr>
              <a:t>Recovered SQL component</a:t>
            </a:r>
          </a:p>
        </p:txBody>
      </p:sp>
      <p:sp>
        <p:nvSpPr>
          <p:cNvPr id="6" name="">
            <a:extLst xmlns:a="http://schemas.openxmlformats.org/drawingml/2006/main">
              <a:ext uri="{FF2B5EF4-FFF2-40B4-BE49-F238E27FC236}">
                <a16:creationId xmlns:a16="http://schemas.microsoft.com/office/drawing/2014/main" id="{EA582E92-C138-4196-B86F-4316F92949CF}"/>
              </a:ext>
            </a:extLst>
          </p:cNvPr>
          <p:cNvSpPr>
            <a:spLocks xmlns:a="http://schemas.openxmlformats.org/drawingml/2006/main" noGrp="1"/>
          </p:cNvSpPr>
          <p:nvPr/>
        </p:nvSpPr>
        <p:spPr>
          <a:xfrm xmlns:a="http://schemas.openxmlformats.org/drawingml/2006/main">
            <a:off x="3905250" y="4581525"/>
            <a:ext cx="7600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0B6B50"/>
                </a:solidFill>
                <a:latin typeface="Arial"/>
                <a:ea typeface="Arial"/>
                <a:cs typeface="Arial"/>
              </a:defRPr>
            </a:defPPr>
            <a:lvl1pPr>
              <a:defRPr sz="1800" b="0">
                <a:solidFill>
                  <a:srgbClr val="0B6B50"/>
                </a:solidFill>
                <a:latin typeface="Arial"/>
                <a:ea typeface="Arial"/>
                <a:cs typeface="Arial"/>
              </a:defRPr>
            </a:lvl1pPr>
            <a:lvl2pPr>
              <a:defRPr sz="1800" b="0">
                <a:solidFill>
                  <a:srgbClr val="0B6B50"/>
                </a:solidFill>
                <a:latin typeface="Arial"/>
                <a:ea typeface="Arial"/>
                <a:cs typeface="Arial"/>
              </a:defRPr>
            </a:lvl2pPr>
            <a:lvl3pPr>
              <a:defRPr sz="1800" b="0">
                <a:solidFill>
                  <a:srgbClr val="0B6B50"/>
                </a:solidFill>
                <a:latin typeface="Arial"/>
                <a:ea typeface="Arial"/>
                <a:cs typeface="Arial"/>
              </a:defRPr>
            </a:lvl3pPr>
            <a:lvl4pPr>
              <a:defRPr sz="1800" b="0">
                <a:solidFill>
                  <a:srgbClr val="0B6B50"/>
                </a:solidFill>
                <a:latin typeface="Arial"/>
                <a:ea typeface="Arial"/>
                <a:cs typeface="Arial"/>
              </a:defRPr>
            </a:lvl4pPr>
            <a:lvl5pPr>
              <a:defRPr sz="1800" b="0">
                <a:solidFill>
                  <a:srgbClr val="0B6B50"/>
                </a:solidFill>
                <a:latin typeface="Arial"/>
                <a:ea typeface="Arial"/>
                <a:cs typeface="Arial"/>
              </a:defRPr>
            </a:lvl5pPr>
            <a:lvl6pPr>
              <a:defRPr sz="1800" b="0">
                <a:solidFill>
                  <a:srgbClr val="0B6B50"/>
                </a:solidFill>
                <a:latin typeface="Arial"/>
                <a:ea typeface="Arial"/>
                <a:cs typeface="Arial"/>
              </a:defRPr>
            </a:lvl6pPr>
            <a:lvl7pPr>
              <a:defRPr sz="1800" b="0">
                <a:solidFill>
                  <a:srgbClr val="0B6B50"/>
                </a:solidFill>
                <a:latin typeface="Arial"/>
                <a:ea typeface="Arial"/>
                <a:cs typeface="Arial"/>
              </a:defRPr>
            </a:lvl7pPr>
            <a:lvl8pPr>
              <a:defRPr sz="1800" b="0">
                <a:solidFill>
                  <a:srgbClr val="0B6B50"/>
                </a:solidFill>
                <a:latin typeface="Arial"/>
                <a:ea typeface="Arial"/>
                <a:cs typeface="Arial"/>
              </a:defRPr>
            </a:lvl8pPr>
            <a:lvl9pPr>
              <a:defRPr sz="1800" b="0">
                <a:solidFill>
                  <a:srgbClr val="0B6B50"/>
                </a:solidFill>
                <a:latin typeface="Arial"/>
                <a:ea typeface="Arial"/>
                <a:cs typeface="Arial"/>
              </a:defRPr>
            </a:lvl9pPr>
          </a:lstStyle>
          <a:p xmlns:a="http://schemas.openxmlformats.org/drawingml/2006/main">
            <a:pPr>
              <a:defRPr sz="1800" b="0">
                <a:solidFill>
                  <a:srgbClr val="0B6B50"/>
                </a:solidFill>
                <a:latin typeface="Arial"/>
                <a:ea typeface="Arial"/>
                <a:cs typeface="Arial"/>
              </a:defRPr>
            </a:pPr>
            <a:r>
              <a:rPr sz="1800" b="0">
                <a:solidFill>
                  <a:srgbClr val="0B6B50"/>
                </a:solidFill>
                <a:latin typeface="Arial"/>
                <a:ea typeface="Arial"/>
                <a:cs typeface="Arial"/>
              </a:rPr>
              <a:t>https://github.com/Ali-Maq/crusoe-developer-hub/pull/2</a:t>
            </a:r>
          </a:p>
        </p:txBody>
      </p:sp>
      <p:sp>
        <p:nvSpPr>
          <p:cNvPr id="7" name="">
            <a:extLst xmlns:a="http://schemas.openxmlformats.org/drawingml/2006/main">
              <a:ext uri="{FF2B5EF4-FFF2-40B4-BE49-F238E27FC236}">
                <a16:creationId xmlns:a16="http://schemas.microsoft.com/office/drawing/2014/main" id="{B2885A77-A7A9-49B4-A0FB-9E3382A96F7A}"/>
              </a:ext>
            </a:extLst>
          </p:cNvPr>
          <p:cNvSpPr>
            <a:spLocks xmlns:a="http://schemas.openxmlformats.org/drawingml/2006/main" noGrp="1"/>
          </p:cNvSpPr>
          <p:nvPr/>
        </p:nvSpPr>
        <p:spPr>
          <a:xfrm xmlns:a="http://schemas.openxmlformats.org/drawingml/2006/main">
            <a:off x="685800" y="530542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82221"/>
                </a:solidFill>
                <a:latin typeface="Arial"/>
                <a:ea typeface="Arial"/>
                <a:cs typeface="Arial"/>
              </a:defRPr>
            </a:defPPr>
            <a:lvl1pPr>
              <a:defRPr sz="1950" b="1">
                <a:solidFill>
                  <a:srgbClr val="182221"/>
                </a:solidFill>
                <a:latin typeface="Arial"/>
                <a:ea typeface="Arial"/>
                <a:cs typeface="Arial"/>
              </a:defRPr>
            </a:lvl1pPr>
            <a:lvl2pPr>
              <a:defRPr sz="1950" b="1">
                <a:solidFill>
                  <a:srgbClr val="182221"/>
                </a:solidFill>
                <a:latin typeface="Arial"/>
                <a:ea typeface="Arial"/>
                <a:cs typeface="Arial"/>
              </a:defRPr>
            </a:lvl2pPr>
            <a:lvl3pPr>
              <a:defRPr sz="1950" b="1">
                <a:solidFill>
                  <a:srgbClr val="182221"/>
                </a:solidFill>
                <a:latin typeface="Arial"/>
                <a:ea typeface="Arial"/>
                <a:cs typeface="Arial"/>
              </a:defRPr>
            </a:lvl3pPr>
            <a:lvl4pPr>
              <a:defRPr sz="1950" b="1">
                <a:solidFill>
                  <a:srgbClr val="182221"/>
                </a:solidFill>
                <a:latin typeface="Arial"/>
                <a:ea typeface="Arial"/>
                <a:cs typeface="Arial"/>
              </a:defRPr>
            </a:lvl4pPr>
            <a:lvl5pPr>
              <a:defRPr sz="1950" b="1">
                <a:solidFill>
                  <a:srgbClr val="182221"/>
                </a:solidFill>
                <a:latin typeface="Arial"/>
                <a:ea typeface="Arial"/>
                <a:cs typeface="Arial"/>
              </a:defRPr>
            </a:lvl5pPr>
            <a:lvl6pPr>
              <a:defRPr sz="1950" b="1">
                <a:solidFill>
                  <a:srgbClr val="182221"/>
                </a:solidFill>
                <a:latin typeface="Arial"/>
                <a:ea typeface="Arial"/>
                <a:cs typeface="Arial"/>
              </a:defRPr>
            </a:lvl6pPr>
            <a:lvl7pPr>
              <a:defRPr sz="1950" b="1">
                <a:solidFill>
                  <a:srgbClr val="182221"/>
                </a:solidFill>
                <a:latin typeface="Arial"/>
                <a:ea typeface="Arial"/>
                <a:cs typeface="Arial"/>
              </a:defRPr>
            </a:lvl7pPr>
            <a:lvl8pPr>
              <a:defRPr sz="1950" b="1">
                <a:solidFill>
                  <a:srgbClr val="182221"/>
                </a:solidFill>
                <a:latin typeface="Arial"/>
                <a:ea typeface="Arial"/>
                <a:cs typeface="Arial"/>
              </a:defRPr>
            </a:lvl8pPr>
            <a:lvl9pPr>
              <a:defRPr sz="1950" b="1">
                <a:solidFill>
                  <a:srgbClr val="182221"/>
                </a:solidFill>
                <a:latin typeface="Arial"/>
                <a:ea typeface="Arial"/>
                <a:cs typeface="Arial"/>
              </a:defRPr>
            </a:lvl9pPr>
          </a:lstStyle>
          <a:p xmlns:a="http://schemas.openxmlformats.org/drawingml/2006/main">
            <a:pPr>
              <a:defRPr sz="1950" b="1">
                <a:solidFill>
                  <a:srgbClr val="182221"/>
                </a:solidFill>
                <a:latin typeface="Arial"/>
                <a:ea typeface="Arial"/>
                <a:cs typeface="Arial"/>
              </a:defRPr>
            </a:pPr>
            <a:r>
              <a:rPr sz="1950" b="1">
                <a:solidFill>
                  <a:srgbClr val="182221"/>
                </a:solidFill>
                <a:latin typeface="Arial"/>
                <a:ea typeface="Arial"/>
                <a:cs typeface="Arial"/>
              </a:rPr>
              <a:t>MASS integration</a:t>
            </a:r>
          </a:p>
        </p:txBody>
      </p:sp>
      <p:sp>
        <p:nvSpPr>
          <p:cNvPr id="8" name="">
            <a:extLst xmlns:a="http://schemas.openxmlformats.org/drawingml/2006/main">
              <a:ext uri="{FF2B5EF4-FFF2-40B4-BE49-F238E27FC236}">
                <a16:creationId xmlns:a16="http://schemas.microsoft.com/office/drawing/2014/main" id="{F6452191-F3FD-4D71-964A-0F1C1218020F}"/>
              </a:ext>
            </a:extLst>
          </p:cNvPr>
          <p:cNvSpPr>
            <a:spLocks xmlns:a="http://schemas.openxmlformats.org/drawingml/2006/main" noGrp="1"/>
          </p:cNvSpPr>
          <p:nvPr/>
        </p:nvSpPr>
        <p:spPr>
          <a:xfrm xmlns:a="http://schemas.openxmlformats.org/drawingml/2006/main">
            <a:off x="3905250" y="5305425"/>
            <a:ext cx="7600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0B6B50"/>
                </a:solidFill>
                <a:latin typeface="Arial"/>
                <a:ea typeface="Arial"/>
                <a:cs typeface="Arial"/>
              </a:defRPr>
            </a:defPPr>
            <a:lvl1pPr>
              <a:defRPr sz="1800" b="0">
                <a:solidFill>
                  <a:srgbClr val="0B6B50"/>
                </a:solidFill>
                <a:latin typeface="Arial"/>
                <a:ea typeface="Arial"/>
                <a:cs typeface="Arial"/>
              </a:defRPr>
            </a:lvl1pPr>
            <a:lvl2pPr>
              <a:defRPr sz="1800" b="0">
                <a:solidFill>
                  <a:srgbClr val="0B6B50"/>
                </a:solidFill>
                <a:latin typeface="Arial"/>
                <a:ea typeface="Arial"/>
                <a:cs typeface="Arial"/>
              </a:defRPr>
            </a:lvl2pPr>
            <a:lvl3pPr>
              <a:defRPr sz="1800" b="0">
                <a:solidFill>
                  <a:srgbClr val="0B6B50"/>
                </a:solidFill>
                <a:latin typeface="Arial"/>
                <a:ea typeface="Arial"/>
                <a:cs typeface="Arial"/>
              </a:defRPr>
            </a:lvl3pPr>
            <a:lvl4pPr>
              <a:defRPr sz="1800" b="0">
                <a:solidFill>
                  <a:srgbClr val="0B6B50"/>
                </a:solidFill>
                <a:latin typeface="Arial"/>
                <a:ea typeface="Arial"/>
                <a:cs typeface="Arial"/>
              </a:defRPr>
            </a:lvl4pPr>
            <a:lvl5pPr>
              <a:defRPr sz="1800" b="0">
                <a:solidFill>
                  <a:srgbClr val="0B6B50"/>
                </a:solidFill>
                <a:latin typeface="Arial"/>
                <a:ea typeface="Arial"/>
                <a:cs typeface="Arial"/>
              </a:defRPr>
            </a:lvl5pPr>
            <a:lvl6pPr>
              <a:defRPr sz="1800" b="0">
                <a:solidFill>
                  <a:srgbClr val="0B6B50"/>
                </a:solidFill>
                <a:latin typeface="Arial"/>
                <a:ea typeface="Arial"/>
                <a:cs typeface="Arial"/>
              </a:defRPr>
            </a:lvl6pPr>
            <a:lvl7pPr>
              <a:defRPr sz="1800" b="0">
                <a:solidFill>
                  <a:srgbClr val="0B6B50"/>
                </a:solidFill>
                <a:latin typeface="Arial"/>
                <a:ea typeface="Arial"/>
                <a:cs typeface="Arial"/>
              </a:defRPr>
            </a:lvl7pPr>
            <a:lvl8pPr>
              <a:defRPr sz="1800" b="0">
                <a:solidFill>
                  <a:srgbClr val="0B6B50"/>
                </a:solidFill>
                <a:latin typeface="Arial"/>
                <a:ea typeface="Arial"/>
                <a:cs typeface="Arial"/>
              </a:defRPr>
            </a:lvl8pPr>
            <a:lvl9pPr>
              <a:defRPr sz="1800" b="0">
                <a:solidFill>
                  <a:srgbClr val="0B6B50"/>
                </a:solidFill>
                <a:latin typeface="Arial"/>
                <a:ea typeface="Arial"/>
                <a:cs typeface="Arial"/>
              </a:defRPr>
            </a:lvl9pPr>
          </a:lstStyle>
          <a:p xmlns:a="http://schemas.openxmlformats.org/drawingml/2006/main">
            <a:pPr>
              <a:defRPr sz="1800" b="0">
                <a:solidFill>
                  <a:srgbClr val="0B6B50"/>
                </a:solidFill>
                <a:latin typeface="Arial"/>
                <a:ea typeface="Arial"/>
                <a:cs typeface="Arial"/>
              </a:defRPr>
            </a:pPr>
            <a:r>
              <a:rPr sz="1800" b="0">
                <a:solidFill>
                  <a:srgbClr val="0B6B50"/>
                </a:solidFill>
                <a:latin typeface="Arial"/>
                <a:ea typeface="Arial"/>
                <a:cs typeface="Arial"/>
              </a:rPr>
              <a:t>https://github.com/Ali-Maq/mass/pull/1</a:t>
            </a:r>
          </a:p>
        </p:txBody>
      </p:sp>
      <p:sp>
        <p:nvSpPr>
          <p:cNvPr id="9" name="">
            <a:extLst xmlns:a="http://schemas.openxmlformats.org/drawingml/2006/main">
              <a:ext uri="{FF2B5EF4-FFF2-40B4-BE49-F238E27FC236}">
                <a16:creationId xmlns:a16="http://schemas.microsoft.com/office/drawing/2014/main" id="{D42F7DAA-6DFE-417A-8D43-5A02F8563470}"/>
              </a:ext>
            </a:extLst>
          </p:cNvPr>
          <p:cNvSpPr>
            <a:spLocks xmlns:a="http://schemas.openxmlformats.org/drawingml/2006/main" noGrp="1"/>
          </p:cNvSpPr>
          <p:nvPr/>
        </p:nvSpPr>
        <p:spPr>
          <a:xfrm xmlns:a="http://schemas.openxmlformats.org/drawingml/2006/main">
            <a:off x="685800" y="6191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35E"/>
                </a:solidFill>
                <a:latin typeface="Arial"/>
                <a:ea typeface="Arial"/>
                <a:cs typeface="Arial"/>
              </a:defRPr>
            </a:defPPr>
            <a:lvl1pPr>
              <a:defRPr sz="1650" b="0">
                <a:solidFill>
                  <a:srgbClr val="59635E"/>
                </a:solidFill>
                <a:latin typeface="Arial"/>
                <a:ea typeface="Arial"/>
                <a:cs typeface="Arial"/>
              </a:defRPr>
            </a:lvl1pPr>
            <a:lvl2pPr>
              <a:defRPr sz="1650" b="0">
                <a:solidFill>
                  <a:srgbClr val="59635E"/>
                </a:solidFill>
                <a:latin typeface="Arial"/>
                <a:ea typeface="Arial"/>
                <a:cs typeface="Arial"/>
              </a:defRPr>
            </a:lvl2pPr>
            <a:lvl3pPr>
              <a:defRPr sz="1650" b="0">
                <a:solidFill>
                  <a:srgbClr val="59635E"/>
                </a:solidFill>
                <a:latin typeface="Arial"/>
                <a:ea typeface="Arial"/>
                <a:cs typeface="Arial"/>
              </a:defRPr>
            </a:lvl3pPr>
            <a:lvl4pPr>
              <a:defRPr sz="1650" b="0">
                <a:solidFill>
                  <a:srgbClr val="59635E"/>
                </a:solidFill>
                <a:latin typeface="Arial"/>
                <a:ea typeface="Arial"/>
                <a:cs typeface="Arial"/>
              </a:defRPr>
            </a:lvl4pPr>
            <a:lvl5pPr>
              <a:defRPr sz="1650" b="0">
                <a:solidFill>
                  <a:srgbClr val="59635E"/>
                </a:solidFill>
                <a:latin typeface="Arial"/>
                <a:ea typeface="Arial"/>
                <a:cs typeface="Arial"/>
              </a:defRPr>
            </a:lvl5pPr>
            <a:lvl6pPr>
              <a:defRPr sz="1650" b="0">
                <a:solidFill>
                  <a:srgbClr val="59635E"/>
                </a:solidFill>
                <a:latin typeface="Arial"/>
                <a:ea typeface="Arial"/>
                <a:cs typeface="Arial"/>
              </a:defRPr>
            </a:lvl6pPr>
            <a:lvl7pPr>
              <a:defRPr sz="1650" b="0">
                <a:solidFill>
                  <a:srgbClr val="59635E"/>
                </a:solidFill>
                <a:latin typeface="Arial"/>
                <a:ea typeface="Arial"/>
                <a:cs typeface="Arial"/>
              </a:defRPr>
            </a:lvl7pPr>
            <a:lvl8pPr>
              <a:defRPr sz="1650" b="0">
                <a:solidFill>
                  <a:srgbClr val="59635E"/>
                </a:solidFill>
                <a:latin typeface="Arial"/>
                <a:ea typeface="Arial"/>
                <a:cs typeface="Arial"/>
              </a:defRPr>
            </a:lvl8pPr>
            <a:lvl9pPr>
              <a:defRPr sz="1650" b="0">
                <a:solidFill>
                  <a:srgbClr val="59635E"/>
                </a:solidFill>
                <a:latin typeface="Arial"/>
                <a:ea typeface="Arial"/>
                <a:cs typeface="Arial"/>
              </a:defRPr>
            </a:lvl9pPr>
          </a:lstStyle>
          <a:p xmlns:a="http://schemas.openxmlformats.org/drawingml/2006/main">
            <a:pPr>
              <a:defRPr sz="1650" b="0">
                <a:solidFill>
                  <a:srgbClr val="59635E"/>
                </a:solidFill>
                <a:latin typeface="Arial"/>
                <a:ea typeface="Arial"/>
                <a:cs typeface="Arial"/>
              </a:defRPr>
            </a:pPr>
            <a:r>
              <a:rPr sz="1650" b="0">
                <a:solidFill>
                  <a:srgbClr val="59635E"/>
                </a:solidFill>
                <a:latin typeface="Arial"/>
                <a:ea typeface="Arial"/>
                <a:cs typeface="Arial"/>
              </a:rPr>
              <a:t>No cross-run filesystem isolation. Native Landlock is unavailable on this host.</a:t>
            </a:r>
          </a:p>
        </p:txBody>
      </p:sp>
    </p:spTree>
    <p:extLst>
      <p:ext uri="{BB962C8B-B14F-4D97-AF65-F5344CB8AC3E}">
        <p14:creationId xmlns:p14="http://schemas.microsoft.com/office/powerpoint/2010/main" val="1200693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2026-10-17T23:39:50.6510000Z</dcterms:created>
  <dcterms:modified xsi:type="dcterms:W3CDTF">2026-10-17T23:39:50.6510000Z</dcterms:modified>
</coreProperties>
</file>